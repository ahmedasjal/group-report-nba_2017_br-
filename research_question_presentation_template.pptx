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78" d="100"/>
          <a:sy n="78" d="100"/>
        </p:scale>
        <p:origin x="850" y="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12/12/2025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12/12/2025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dirty="0" err="1"/>
              <a:t>likert</a:t>
            </a:r>
            <a:r>
              <a:rPr lang="en-GB" dirty="0"/>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dirty="0"/>
          </a:p>
          <a:p>
            <a:r>
              <a:rPr lang="en-GB" dirty="0"/>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a:t>
            </a:r>
            <a:r>
              <a:rPr lang="en-GB"/>
              <a:t>make the most of this opportunity to help you pass coursework 2. </a:t>
            </a:r>
            <a:endParaRPr lang="en-GB" dirty="0"/>
          </a:p>
          <a:p>
            <a:endParaRPr lang="en-GB"/>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a:t>
            </a:r>
            <a:r>
              <a:rPr lang="en-GB">
                <a:solidFill>
                  <a:srgbClr val="FF0000"/>
                </a:solidFill>
              </a:rPr>
              <a:t>receive confirmation email about your allocation?</a:t>
            </a:r>
            <a:r>
              <a:rPr lang="en-GB" dirty="0">
                <a:solidFill>
                  <a:srgbClr val="FF0000"/>
                </a:solidFill>
              </a:rPr>
              <a:t> Your group number must be assigned to the dataset you are referencing here.</a:t>
            </a:r>
            <a:endParaRPr lang="en-GB" dirty="0">
              <a:solidFill>
                <a:srgbClr val="FF0000"/>
              </a:solidFill>
              <a:cs typeface="Arial"/>
            </a:endParaRPr>
          </a:p>
          <a:p>
            <a:endParaRPr lang="en-GB">
              <a:solidFill>
                <a:srgbClr val="203232"/>
              </a:solidFill>
              <a:cs typeface="Arial" panose="020B0604020202020204"/>
            </a:endParaRPr>
          </a:p>
          <a:p>
            <a:r>
              <a:rPr lang="en-GB"/>
              <a:t>The next slides give you three alternatives for defining your research question and hypotheses. Select </a:t>
            </a:r>
            <a:r>
              <a:rPr lang="en-GB" dirty="0"/>
              <a:t>only </a:t>
            </a:r>
            <a:r>
              <a:rPr lang="en-GB" b="1" dirty="0"/>
              <a:t>one type </a:t>
            </a:r>
            <a:r>
              <a:rPr lang="en-GB" dirty="0"/>
              <a:t>of research question. </a:t>
            </a:r>
          </a:p>
          <a:p>
            <a:r>
              <a:rPr lang="en-GB" dirty="0"/>
              <a:t>Before presenting DELETE all text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a:t>
            </a:r>
            <a:r>
              <a:rPr lang="en-GB"/>
              <a:t>presenting will miss the opportunity to check a critical part of coursework 2.   Practice presenting on Teams </a:t>
            </a:r>
            <a:r>
              <a:rPr lang="en-GB" dirty="0"/>
              <a:t>first.</a:t>
            </a:r>
            <a:endParaRPr lang="en-GB">
              <a:cs typeface="Arial"/>
            </a:endParaRPr>
          </a:p>
          <a:p>
            <a:r>
              <a:rPr lang="en-GB" b="1" i="1"/>
              <a:t>We look forward to giving you feedback.  You will not be graded on this presentation but if you do not attend and you booked a space you are preventing someone else presenting and are going against our module values</a:t>
            </a:r>
            <a:r>
              <a:rPr lang="en-GB"/>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24/11/2025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B 137                                                  Name of Student Presenting: Ahmed Asjal</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B 137         Names of Student Attendees: Mahipal, Poorni, Zaman, Ahmed &amp; Dheeraj</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1257"/>
            <a:ext cx="9753625" cy="230832"/>
          </a:xfrm>
        </p:spPr>
        <p:txBody>
          <a:bodyPr vert="horz" lIns="0" tIns="0" rIns="0" bIns="0" rtlCol="0" anchor="t">
            <a:noAutofit/>
          </a:bodyPr>
          <a:lstStyle/>
          <a:p>
            <a:pPr>
              <a:spcAft>
                <a:spcPts val="0"/>
              </a:spcAft>
            </a:pPr>
            <a:r>
              <a:rPr lang="en-GB" sz="3200" dirty="0"/>
              <a:t>Our dataset contains detailed performance statistics for NBA players during the 2017 season</a:t>
            </a:r>
          </a:p>
          <a:p>
            <a:pPr>
              <a:spcAft>
                <a:spcPts val="0"/>
              </a:spcAft>
            </a:pPr>
            <a:endParaRPr lang="en-GB" sz="1600" dirty="0">
              <a:solidFill>
                <a:srgbClr val="203232"/>
              </a:solidFill>
              <a:cs typeface="Arial"/>
            </a:endParaRPr>
          </a:p>
          <a:p>
            <a:pPr>
              <a:spcAft>
                <a:spcPts val="0"/>
              </a:spcAft>
            </a:pPr>
            <a:r>
              <a:rPr lang="en-GB" sz="2800" dirty="0">
                <a:solidFill>
                  <a:srgbClr val="203232"/>
                </a:solidFill>
                <a:cs typeface="Arial"/>
              </a:rPr>
              <a:t>Here is a sample of our dataset: </a:t>
            </a:r>
            <a:endParaRPr lang="en-GB" sz="14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B 137</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1454511" y="2607443"/>
            <a:ext cx="9965844" cy="2649857"/>
          </a:xfrm>
        </p:spPr>
        <p:txBody>
          <a:bodyPr>
            <a:normAutofit fontScale="90000"/>
          </a:bodyPr>
          <a:lstStyle/>
          <a:p>
            <a:pPr marL="742950" indent="-742950">
              <a:lnSpc>
                <a:spcPts val="2880"/>
              </a:lnSpc>
              <a:spcBef>
                <a:spcPts val="0"/>
              </a:spcBef>
              <a:spcAft>
                <a:spcPts val="992"/>
              </a:spcAft>
              <a:buAutoNum type="arabicPeriod"/>
            </a:pPr>
            <a:r>
              <a:rPr lang="en-GB" sz="3600" dirty="0">
                <a:solidFill>
                  <a:srgbClr val="FF0000"/>
                </a:solidFill>
                <a:cs typeface="Arial"/>
              </a:rPr>
              <a:t>The columns/variable names: </a:t>
            </a:r>
            <a:r>
              <a:rPr lang="en-GB" sz="3600" dirty="0">
                <a:cs typeface="Arial"/>
              </a:rPr>
              <a:t>MP &amp; PS/G.</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Here are first 5 rows of the data. </a:t>
            </a: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cs typeface="Arial"/>
              </a:rPr>
              <a:t>Our Dataset has </a:t>
            </a:r>
            <a:r>
              <a:rPr lang="en-GB" sz="3600" dirty="0">
                <a:solidFill>
                  <a:srgbClr val="FF0000"/>
                </a:solidFill>
                <a:cs typeface="Arial"/>
              </a:rPr>
              <a:t>486</a:t>
            </a:r>
            <a:r>
              <a:rPr lang="en-GB" sz="3600" dirty="0">
                <a:cs typeface="Arial"/>
              </a:rPr>
              <a:t> rows &amp; </a:t>
            </a:r>
            <a:r>
              <a:rPr lang="en-GB" sz="3600" dirty="0">
                <a:solidFill>
                  <a:schemeClr val="accent3"/>
                </a:solidFill>
                <a:cs typeface="Arial"/>
              </a:rPr>
              <a:t>30</a:t>
            </a:r>
            <a:r>
              <a:rPr lang="en-GB" sz="3600" dirty="0">
                <a:cs typeface="Arial"/>
              </a:rPr>
              <a:t> columns.</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pic>
        <p:nvPicPr>
          <p:cNvPr id="6" name="Picture 5">
            <a:extLst>
              <a:ext uri="{FF2B5EF4-FFF2-40B4-BE49-F238E27FC236}">
                <a16:creationId xmlns:a16="http://schemas.microsoft.com/office/drawing/2014/main" id="{9F19D2F5-4A5C-0940-CB82-64169E09B3B5}"/>
              </a:ext>
            </a:extLst>
          </p:cNvPr>
          <p:cNvPicPr>
            <a:picLocks noChangeAspect="1"/>
          </p:cNvPicPr>
          <p:nvPr/>
        </p:nvPicPr>
        <p:blipFill>
          <a:blip r:embed="rId3"/>
          <a:stretch>
            <a:fillRect/>
          </a:stretch>
        </p:blipFill>
        <p:spPr>
          <a:xfrm>
            <a:off x="2427269" y="3429000"/>
            <a:ext cx="7089545" cy="1543485"/>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chemeClr val="tx1"/>
                </a:solidFill>
              </a:rPr>
              <a:t>DS346 		nba_2017_br.csv</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09600" y="791022"/>
            <a:ext cx="10717161" cy="230832"/>
          </a:xfrm>
        </p:spPr>
        <p:txBody>
          <a:bodyPr/>
          <a:lstStyle/>
          <a:p>
            <a:r>
              <a:rPr lang="en-GB" dirty="0"/>
              <a:t>7COM1079-2025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It provides well quantitative information about NBA players’ performance, with which we can do statistical analysis.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MP (Minutes Played in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Interval/Measurement Data</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PS/G (Points Scored per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Interval/Measurement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5289" y="791022"/>
            <a:ext cx="11440040" cy="230832"/>
          </a:xfrm>
        </p:spPr>
        <p:txBody>
          <a:bodyPr/>
          <a:lstStyle/>
          <a:p>
            <a:r>
              <a:rPr lang="en-GB" dirty="0"/>
              <a:t>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a:ea typeface="Calibri" panose="020F0502020204030204" pitchFamily="34" charset="0"/>
                <a:cs typeface="Times New Roman"/>
              </a:rPr>
            </a:br>
            <a:br>
              <a:rPr lang="en-IE" sz="2400" dirty="0">
                <a:effectLst/>
                <a:latin typeface="Calibri"/>
                <a:ea typeface="Calibri" panose="020F0502020204030204" pitchFamily="34" charset="0"/>
                <a:cs typeface="Times New Roman"/>
              </a:rPr>
            </a:br>
            <a:r>
              <a:rPr lang="en-IE" sz="2400" dirty="0">
                <a:effectLst/>
                <a:latin typeface="Calibri"/>
                <a:ea typeface="Calibri" panose="020F0502020204030204" pitchFamily="34" charset="0"/>
                <a:cs typeface="Times New Roman"/>
              </a:rPr>
              <a:t>Template </a:t>
            </a:r>
            <a:r>
              <a:rPr lang="en-IE" sz="2400" baseline="30000" dirty="0">
                <a:effectLst/>
                <a:latin typeface="Calibri"/>
                <a:ea typeface="Calibri" panose="020F0502020204030204" pitchFamily="34" charset="0"/>
                <a:cs typeface="Times New Roman"/>
              </a:rPr>
              <a:t>1</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Interval/Ordinal: “Is there a statistically significant  correlation between </a:t>
            </a:r>
            <a:r>
              <a:rPr lang="en-IE" sz="2400" b="0" dirty="0">
                <a:solidFill>
                  <a:srgbClr val="0070C0"/>
                </a:solidFill>
                <a:latin typeface="Calibri"/>
                <a:ea typeface="Calibri" panose="020F0502020204030204" pitchFamily="34" charset="0"/>
                <a:cs typeface="Times New Roman"/>
              </a:rPr>
              <a:t>Point Scored /Game </a:t>
            </a:r>
            <a:r>
              <a:rPr lang="en-IE" sz="2400" b="0" dirty="0">
                <a:effectLst/>
                <a:latin typeface="Calibri"/>
                <a:ea typeface="Calibri" panose="020F0502020204030204" pitchFamily="34" charset="0"/>
                <a:cs typeface="Times New Roman"/>
              </a:rPr>
              <a:t>and </a:t>
            </a:r>
            <a:r>
              <a:rPr lang="en-IE" sz="2400" b="0" dirty="0">
                <a:solidFill>
                  <a:srgbClr val="0070C0"/>
                </a:solidFill>
                <a:latin typeface="Calibri"/>
                <a:ea typeface="Calibri" panose="020F0502020204030204" pitchFamily="34" charset="0"/>
                <a:cs typeface="Times New Roman"/>
              </a:rPr>
              <a:t>Minutes Player for NBA </a:t>
            </a:r>
            <a:r>
              <a:rPr lang="en-IE" sz="2400" b="0">
                <a:latin typeface="Calibri"/>
                <a:ea typeface="Calibri" panose="020F0502020204030204" pitchFamily="34" charset="0"/>
                <a:cs typeface="Times New Roman"/>
              </a:rPr>
              <a:t>Players during the </a:t>
            </a:r>
            <a:r>
              <a:rPr lang="en-IE" sz="2400" b="0" dirty="0">
                <a:latin typeface="Calibri"/>
                <a:ea typeface="Calibri" panose="020F0502020204030204" pitchFamily="34" charset="0"/>
                <a:cs typeface="Times New Roman"/>
              </a:rPr>
              <a:t>2017 season?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In simpler terms: Do players scoring more </a:t>
            </a:r>
            <a:r>
              <a:rPr lang="en-IE" sz="2400" b="0" dirty="0">
                <a:solidFill>
                  <a:schemeClr val="accent4"/>
                </a:solidFill>
                <a:latin typeface="Calibri"/>
                <a:ea typeface="Calibri" panose="020F0502020204030204" pitchFamily="34" charset="0"/>
                <a:cs typeface="Times New Roman"/>
              </a:rPr>
              <a:t>points </a:t>
            </a:r>
            <a:r>
              <a:rPr lang="en-IE" sz="2400" b="0" dirty="0">
                <a:latin typeface="Calibri"/>
                <a:ea typeface="Calibri" panose="020F0502020204030204" pitchFamily="34" charset="0"/>
                <a:cs typeface="Times New Roman"/>
              </a:rPr>
              <a:t>if they play more </a:t>
            </a:r>
            <a:r>
              <a:rPr lang="en-IE" sz="2400" b="0" dirty="0">
                <a:solidFill>
                  <a:schemeClr val="accent4"/>
                </a:solidFill>
                <a:latin typeface="Calibri"/>
                <a:ea typeface="Calibri" panose="020F0502020204030204" pitchFamily="34" charset="0"/>
                <a:cs typeface="Times New Roman"/>
              </a:rPr>
              <a:t>time</a:t>
            </a:r>
            <a:r>
              <a:rPr lang="en-IE" sz="2400" b="0" dirty="0">
                <a:latin typeface="Calibri"/>
                <a:ea typeface="Calibri" panose="020F0502020204030204" pitchFamily="34" charset="0"/>
                <a:cs typeface="Times New Roman"/>
              </a:rPr>
              <a:t> in a game?</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a:lnSpc>
                <a:spcPct val="100000"/>
              </a:lnSpc>
            </a:pPr>
            <a:endParaRPr lang="en-GB" sz="2400" b="0" dirty="0">
              <a:latin typeface="Calibri"/>
              <a:cs typeface="Calibri"/>
            </a:endParaRP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a:t>
            </a:r>
          </a:p>
          <a:p>
            <a:pPr>
              <a:lnSpc>
                <a:spcPct val="100000"/>
              </a:lnSpc>
            </a:pPr>
            <a:r>
              <a:rPr lang="en-GB" sz="2000" b="0" dirty="0">
                <a:solidFill>
                  <a:srgbClr val="FF0000"/>
                </a:solidFill>
                <a:latin typeface="Arial"/>
                <a:cs typeface="Arial"/>
              </a:rPr>
              <a:t>	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There is </a:t>
            </a:r>
            <a:r>
              <a:rPr lang="en-GB" sz="2000" dirty="0">
                <a:solidFill>
                  <a:srgbClr val="FF0000"/>
                </a:solidFill>
                <a:latin typeface="Arial"/>
                <a:cs typeface="Arial"/>
              </a:rPr>
              <a:t>no</a:t>
            </a:r>
            <a:r>
              <a:rPr lang="en-GB" sz="2000" b="0" dirty="0">
                <a:solidFill>
                  <a:srgbClr val="FF0000"/>
                </a:solidFill>
                <a:latin typeface="Arial"/>
                <a:cs typeface="Arial"/>
              </a:rPr>
              <a:t> correlation between </a:t>
            </a:r>
            <a:r>
              <a:rPr lang="en-GB" sz="2000" b="0" dirty="0">
                <a:solidFill>
                  <a:schemeClr val="accent4"/>
                </a:solidFill>
                <a:latin typeface="Arial"/>
                <a:cs typeface="Arial"/>
              </a:rPr>
              <a:t>PS/G</a:t>
            </a:r>
            <a:r>
              <a:rPr lang="en-GB" sz="2000" b="0" dirty="0">
                <a:solidFill>
                  <a:srgbClr val="FF0000"/>
                </a:solidFill>
                <a:latin typeface="Arial"/>
                <a:cs typeface="Arial"/>
              </a:rPr>
              <a:t> and </a:t>
            </a:r>
            <a:r>
              <a:rPr lang="en-GB" sz="2000" b="0" dirty="0">
                <a:solidFill>
                  <a:schemeClr val="accent4"/>
                </a:solidFill>
                <a:latin typeface="Arial"/>
                <a:cs typeface="Arial"/>
              </a:rPr>
              <a:t>MP</a:t>
            </a:r>
            <a:r>
              <a:rPr lang="en-GB" sz="2000" b="0" dirty="0">
                <a:solidFill>
                  <a:srgbClr val="FF0000"/>
                </a:solidFill>
                <a:latin typeface="Arial"/>
                <a:cs typeface="Arial"/>
              </a:rPr>
              <a:t>.</a:t>
            </a: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a:t>
            </a:r>
          </a:p>
          <a:p>
            <a:pPr>
              <a:lnSpc>
                <a:spcPct val="100000"/>
              </a:lnSpc>
            </a:pPr>
            <a:r>
              <a:rPr lang="en-GB" sz="2000" b="0" dirty="0">
                <a:solidFill>
                  <a:srgbClr val="FF0000"/>
                </a:solidFill>
                <a:latin typeface="Arial"/>
                <a:cs typeface="Arial"/>
              </a:rPr>
              <a:t>	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There is </a:t>
            </a:r>
            <a:r>
              <a:rPr lang="en-GB" sz="2000" dirty="0">
                <a:solidFill>
                  <a:srgbClr val="FF0000"/>
                </a:solidFill>
                <a:latin typeface="Arial"/>
                <a:cs typeface="Arial"/>
              </a:rPr>
              <a:t>a</a:t>
            </a:r>
            <a:r>
              <a:rPr lang="en-GB" sz="2000" b="0" dirty="0">
                <a:solidFill>
                  <a:srgbClr val="FF0000"/>
                </a:solidFill>
                <a:latin typeface="Arial"/>
                <a:cs typeface="Arial"/>
              </a:rPr>
              <a:t> correlation </a:t>
            </a:r>
            <a:r>
              <a:rPr lang="en-GB" sz="2000" b="0" dirty="0">
                <a:solidFill>
                  <a:srgbClr val="FF0000"/>
                </a:solidFill>
                <a:cs typeface="Arial"/>
              </a:rPr>
              <a:t>between </a:t>
            </a:r>
            <a:r>
              <a:rPr lang="en-GB" sz="2000" b="0" dirty="0">
                <a:solidFill>
                  <a:schemeClr val="accent4"/>
                </a:solidFill>
                <a:cs typeface="Arial"/>
              </a:rPr>
              <a:t>PS/G</a:t>
            </a:r>
            <a:r>
              <a:rPr lang="en-GB" sz="2000" b="0" dirty="0">
                <a:solidFill>
                  <a:srgbClr val="FF0000"/>
                </a:solidFill>
                <a:cs typeface="Arial"/>
              </a:rPr>
              <a:t> and </a:t>
            </a:r>
            <a:r>
              <a:rPr lang="en-GB" sz="2000" b="0" dirty="0">
                <a:solidFill>
                  <a:schemeClr val="accent4"/>
                </a:solidFill>
                <a:cs typeface="Arial"/>
              </a:rPr>
              <a:t>MP</a:t>
            </a:r>
            <a:r>
              <a:rPr lang="en-GB" sz="2000" b="0" dirty="0">
                <a:solidFill>
                  <a:srgbClr val="FF0000"/>
                </a:solidFill>
                <a:cs typeface="Arial"/>
              </a:rPr>
              <a:t>.</a:t>
            </a:r>
          </a:p>
          <a:p>
            <a:pPr>
              <a:lnSpc>
                <a:spcPct val="100000"/>
              </a:lnSpc>
            </a:pP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TotalTime>
  <Words>1101</Words>
  <Application>Microsoft Office PowerPoint</Application>
  <PresentationFormat>Widescreen</PresentationFormat>
  <Paragraphs>47</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24/11/2025 </vt:lpstr>
      <vt:lpstr>The columns/variable names: MP &amp; PS/G. Here are first 5 rows of the data.      Our Dataset has 486 rows &amp; 30 columns.  </vt:lpstr>
      <vt:lpstr>This dataset is interesting to us because:  It provides well quantitative information about NBA players’ performance, with which we can do statistical analysis.  Our  Independent variable is: MP (Minutes Played in Game)                    This  Independent variable datatype is: Interval/Measurement Data Our Dependent variable is: PS/G (Points Scored per Game)                    This Dependent variable datatype is  (select one): Interval/Measurement Data.</vt:lpstr>
      <vt:lpstr>  Template 1: Interval/Ordinal vs Interval/Ordinal: “Is there a statistically significant  correlation between Point Scored /Game and Minutes Player for NBA Players during the 2017 season? ”   In simpler terms: Do players scoring more points if they play more time in a game?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Hyder Hussain</cp:lastModifiedBy>
  <cp:revision>124</cp:revision>
  <dcterms:created xsi:type="dcterms:W3CDTF">2019-10-01T08:37:56Z</dcterms:created>
  <dcterms:modified xsi:type="dcterms:W3CDTF">2025-12-12T12:56:22Z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