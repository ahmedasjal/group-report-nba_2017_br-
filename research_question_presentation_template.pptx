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337" r:id="rId5"/>
    <p:sldId id="289" r:id="rId6"/>
    <p:sldId id="340" r:id="rId7"/>
    <p:sldId id="329" r:id="rId8"/>
    <p:sldId id="336" r:id="rId9"/>
    <p:sldId id="34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78" d="100"/>
          <a:sy n="78" d="100"/>
        </p:scale>
        <p:origin x="850" y="7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12/12/2025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12/12/2025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dirty="0" err="1"/>
              <a:t>likert</a:t>
            </a:r>
            <a:r>
              <a:rPr lang="en-GB" dirty="0"/>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dirty="0"/>
          </a:p>
          <a:p>
            <a:r>
              <a:rPr lang="en-GB" dirty="0"/>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A29D8FC-E32A-5566-0930-02B99F5763A6}"/>
              </a:ext>
            </a:extLst>
          </p:cNvPr>
          <p:cNvSpPr>
            <a:spLocks noGrp="1"/>
          </p:cNvSpPr>
          <p:nvPr>
            <p:ph type="subTitle" idx="1"/>
          </p:nvPr>
        </p:nvSpPr>
        <p:spPr>
          <a:xfrm>
            <a:off x="952800" y="699736"/>
            <a:ext cx="10273911" cy="533111"/>
          </a:xfrm>
        </p:spPr>
        <p:txBody>
          <a:bodyPr/>
          <a:lstStyle/>
          <a:p>
            <a:r>
              <a:rPr lang="en-GB"/>
              <a:t>Instructions for the Research Question Demos</a:t>
            </a:r>
          </a:p>
        </p:txBody>
      </p:sp>
      <p:sp>
        <p:nvSpPr>
          <p:cNvPr id="4" name="Slide Number Placeholder 3">
            <a:extLst>
              <a:ext uri="{FF2B5EF4-FFF2-40B4-BE49-F238E27FC236}">
                <a16:creationId xmlns:a16="http://schemas.microsoft.com/office/drawing/2014/main" id="{E143B824-C7FA-8427-0A8B-E8B5D7787B83}"/>
              </a:ext>
            </a:extLst>
          </p:cNvPr>
          <p:cNvSpPr>
            <a:spLocks noGrp="1"/>
          </p:cNvSpPr>
          <p:nvPr>
            <p:ph type="sldNum" sz="quarter" idx="12"/>
          </p:nvPr>
        </p:nvSpPr>
        <p:spPr/>
        <p:txBody>
          <a:bodyPr/>
          <a:lstStyle/>
          <a:p>
            <a:fld id="{E4D355CA-84B7-41B1-B164-8BB439CC7C6B}" type="slidenum">
              <a:rPr lang="en-GB" smtClean="0"/>
              <a:pPr/>
              <a:t>1</a:t>
            </a:fld>
            <a:endParaRPr lang="en-GB"/>
          </a:p>
        </p:txBody>
      </p:sp>
      <p:sp>
        <p:nvSpPr>
          <p:cNvPr id="6" name="TextBox 5">
            <a:extLst>
              <a:ext uri="{FF2B5EF4-FFF2-40B4-BE49-F238E27FC236}">
                <a16:creationId xmlns:a16="http://schemas.microsoft.com/office/drawing/2014/main" id="{6DD9461E-8553-F8C3-E23F-FB71330E931F}"/>
              </a:ext>
            </a:extLst>
          </p:cNvPr>
          <p:cNvSpPr txBox="1"/>
          <p:nvPr/>
        </p:nvSpPr>
        <p:spPr>
          <a:xfrm>
            <a:off x="388578" y="1310979"/>
            <a:ext cx="11486747" cy="5355312"/>
          </a:xfrm>
          <a:prstGeom prst="rect">
            <a:avLst/>
          </a:prstGeom>
          <a:solidFill>
            <a:schemeClr val="bg1"/>
          </a:solidFill>
        </p:spPr>
        <p:txBody>
          <a:bodyPr wrap="square" lIns="91440" tIns="45720" rIns="91440" bIns="45720" rtlCol="0" anchor="t">
            <a:spAutoFit/>
          </a:bodyPr>
          <a:lstStyle/>
          <a:p>
            <a:r>
              <a:rPr lang="en-GB" dirty="0"/>
              <a:t>You have 5 minutes to present – be ready to share your screen, present slides in "full screen / presentation mode". Practice first. We can only offer you one opportunity to present your Research Question, so please make the most of this opportunity to help you pass coursework 2. </a:t>
            </a:r>
          </a:p>
          <a:p>
            <a:endParaRPr lang="en-GB" dirty="0"/>
          </a:p>
          <a:p>
            <a:r>
              <a:rPr lang="en-GB" dirty="0">
                <a:solidFill>
                  <a:srgbClr val="FF0000"/>
                </a:solidFill>
              </a:rPr>
              <a:t>Research Questions are dependent on the variables and datatypes you have in your assigned dataset. Before you define your Research Question, your dataset dsXXXX must match your assigned Dataset, I.e., did you receive confirmation email about your allocation? Your group number must be assigned to the dataset you are referencing here.</a:t>
            </a:r>
            <a:endParaRPr lang="en-GB" dirty="0">
              <a:solidFill>
                <a:srgbClr val="FF0000"/>
              </a:solidFill>
              <a:cs typeface="Arial"/>
            </a:endParaRPr>
          </a:p>
          <a:p>
            <a:endParaRPr lang="en-GB" dirty="0">
              <a:solidFill>
                <a:srgbClr val="203232"/>
              </a:solidFill>
              <a:cs typeface="Arial" panose="020B0604020202020204"/>
            </a:endParaRPr>
          </a:p>
          <a:p>
            <a:r>
              <a:rPr lang="en-GB" dirty="0"/>
              <a:t>The next slides give you three alternatives for defining your research question and hypotheses. Select only </a:t>
            </a:r>
            <a:r>
              <a:rPr lang="en-GB" b="1" dirty="0"/>
              <a:t>one type </a:t>
            </a:r>
            <a:r>
              <a:rPr lang="en-GB" dirty="0"/>
              <a:t>of research question. </a:t>
            </a:r>
          </a:p>
          <a:p>
            <a:r>
              <a:rPr lang="en-GB" dirty="0"/>
              <a:t>Before presenting DELETE all text that is either an instruction or an optionyou do not use (including this slide).   You can then enlarge your selection. Instructions </a:t>
            </a:r>
            <a:r>
              <a:rPr lang="en-GB"/>
              <a:t>for group  </a:t>
            </a:r>
            <a:r>
              <a:rPr lang="en-GB" dirty="0"/>
              <a:t>sign up of presentation slots will be announced on Canvas and Slack. DO NOT SIGN UP unless you can attend. Ideally, all group members should attend; select one person to present, while others take notes. All group be ready to answer questions.  Any group not presenting will miss the opportunity to check a critical part of coursework 2.   Practice presenting on Teams first.</a:t>
            </a:r>
            <a:endParaRPr lang="en-GB" dirty="0">
              <a:cs typeface="Arial"/>
            </a:endParaRPr>
          </a:p>
          <a:p>
            <a:r>
              <a:rPr lang="en-GB" b="1" i="1" dirty="0"/>
              <a:t>We look forward to giving you feedback.  You will not be graded on this presentation but if you do not attend and you booked a space you are preventing someone else presenting and are going against our module values</a:t>
            </a:r>
            <a:r>
              <a:rPr lang="en-GB" dirty="0"/>
              <a:t>.  This will be reflected in your peer evaluation.</a:t>
            </a:r>
          </a:p>
        </p:txBody>
      </p:sp>
    </p:spTree>
    <p:extLst>
      <p:ext uri="{BB962C8B-B14F-4D97-AF65-F5344CB8AC3E}">
        <p14:creationId xmlns:p14="http://schemas.microsoft.com/office/powerpoint/2010/main" val="384748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24/11/2025</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dirty="0"/>
              <a:t>Group Name:   B 137                                                  Name of Student Presenting: Ahmed Asjal</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B 137         Names of Student Attendees: Mahipal, Poorni, Zaman, Ahmed &amp; Dheeraj</a:t>
            </a:r>
          </a:p>
        </p:txBody>
      </p:sp>
    </p:spTree>
    <p:extLst>
      <p:ext uri="{BB962C8B-B14F-4D97-AF65-F5344CB8AC3E}">
        <p14:creationId xmlns:p14="http://schemas.microsoft.com/office/powerpoint/2010/main" val="4148532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1257"/>
            <a:ext cx="9753625" cy="230832"/>
          </a:xfrm>
        </p:spPr>
        <p:txBody>
          <a:bodyPr vert="horz" lIns="0" tIns="0" rIns="0" bIns="0" rtlCol="0" anchor="t">
            <a:noAutofit/>
          </a:bodyPr>
          <a:lstStyle/>
          <a:p>
            <a:pPr>
              <a:spcAft>
                <a:spcPts val="0"/>
              </a:spcAft>
            </a:pPr>
            <a:r>
              <a:rPr lang="en-GB" sz="3200" dirty="0"/>
              <a:t>Our dataset contains detailed performance statistics for NBA players during the 2017 season</a:t>
            </a:r>
          </a:p>
          <a:p>
            <a:pPr>
              <a:spcAft>
                <a:spcPts val="0"/>
              </a:spcAft>
            </a:pPr>
            <a:endParaRPr lang="en-GB" sz="1600" dirty="0">
              <a:solidFill>
                <a:srgbClr val="203232"/>
              </a:solidFill>
              <a:cs typeface="Arial"/>
            </a:endParaRPr>
          </a:p>
          <a:p>
            <a:pPr>
              <a:spcAft>
                <a:spcPts val="0"/>
              </a:spcAft>
            </a:pPr>
            <a:r>
              <a:rPr lang="en-GB" sz="2800" dirty="0">
                <a:solidFill>
                  <a:srgbClr val="203232"/>
                </a:solidFill>
                <a:cs typeface="Arial"/>
              </a:rPr>
              <a:t>Here is a sample of our dataset: </a:t>
            </a:r>
            <a:endParaRPr lang="en-GB" sz="14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B 137</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1454511" y="2607443"/>
            <a:ext cx="9965844" cy="2649857"/>
          </a:xfrm>
        </p:spPr>
        <p:txBody>
          <a:bodyPr>
            <a:normAutofit fontScale="90000"/>
          </a:bodyPr>
          <a:lstStyle/>
          <a:p>
            <a:pPr marL="742950" indent="-742950">
              <a:lnSpc>
                <a:spcPts val="2880"/>
              </a:lnSpc>
              <a:spcBef>
                <a:spcPts val="0"/>
              </a:spcBef>
              <a:spcAft>
                <a:spcPts val="992"/>
              </a:spcAft>
              <a:buAutoNum type="arabicPeriod"/>
            </a:pPr>
            <a:r>
              <a:rPr lang="en-GB" sz="3600" dirty="0">
                <a:solidFill>
                  <a:srgbClr val="FF0000"/>
                </a:solidFill>
                <a:cs typeface="Arial"/>
              </a:rPr>
              <a:t>The columns/variable names: </a:t>
            </a:r>
            <a:r>
              <a:rPr lang="en-GB" sz="3600" dirty="0">
                <a:cs typeface="Arial"/>
              </a:rPr>
              <a:t>MP &amp; PS/G.</a:t>
            </a:r>
            <a:endParaRPr lang="en-US" sz="3600" b="0" dirty="0">
              <a:solidFill>
                <a:srgbClr val="FF0000"/>
              </a:solidFill>
              <a:cs typeface="Arial"/>
            </a:endParaRPr>
          </a:p>
          <a:p>
            <a:pPr marL="742950" indent="-742950">
              <a:lnSpc>
                <a:spcPts val="2880"/>
              </a:lnSpc>
              <a:spcBef>
                <a:spcPts val="0"/>
              </a:spcBef>
              <a:spcAft>
                <a:spcPts val="992"/>
              </a:spcAft>
              <a:buAutoNum type="arabicPeriod"/>
            </a:pPr>
            <a:r>
              <a:rPr lang="en-GB" sz="3600" dirty="0">
                <a:solidFill>
                  <a:srgbClr val="FF0000"/>
                </a:solidFill>
                <a:cs typeface="Arial"/>
              </a:rPr>
              <a:t>Here are first 5 rows of the data. </a:t>
            </a:r>
            <a:br>
              <a:rPr lang="en-GB" sz="3600" dirty="0">
                <a:solidFill>
                  <a:srgbClr val="FF0000"/>
                </a:solidFill>
                <a:cs typeface="Arial"/>
              </a:rPr>
            </a:br>
            <a:br>
              <a:rPr lang="en-GB" sz="3600" dirty="0">
                <a:solidFill>
                  <a:srgbClr val="FF0000"/>
                </a:solidFill>
                <a:cs typeface="Arial"/>
              </a:rPr>
            </a:br>
            <a:br>
              <a:rPr lang="en-GB" sz="3600" dirty="0">
                <a:solidFill>
                  <a:srgbClr val="FF0000"/>
                </a:solidFill>
                <a:cs typeface="Arial"/>
              </a:rPr>
            </a:br>
            <a:br>
              <a:rPr lang="en-GB" sz="3600" dirty="0">
                <a:solidFill>
                  <a:srgbClr val="FF0000"/>
                </a:solidFill>
                <a:cs typeface="Arial"/>
              </a:rPr>
            </a:br>
            <a:endParaRPr lang="en-US" sz="3600" b="0" dirty="0">
              <a:solidFill>
                <a:srgbClr val="FF0000"/>
              </a:solidFill>
              <a:cs typeface="Arial"/>
            </a:endParaRPr>
          </a:p>
          <a:p>
            <a:pPr marL="742950" indent="-742950">
              <a:lnSpc>
                <a:spcPts val="2880"/>
              </a:lnSpc>
              <a:spcBef>
                <a:spcPts val="0"/>
              </a:spcBef>
              <a:spcAft>
                <a:spcPts val="992"/>
              </a:spcAft>
              <a:buAutoNum type="arabicPeriod"/>
            </a:pPr>
            <a:r>
              <a:rPr lang="en-GB" sz="3600" dirty="0">
                <a:cs typeface="Arial"/>
              </a:rPr>
              <a:t>Our Dataset has </a:t>
            </a:r>
            <a:r>
              <a:rPr lang="en-GB" sz="3600" dirty="0">
                <a:solidFill>
                  <a:srgbClr val="FF0000"/>
                </a:solidFill>
                <a:cs typeface="Arial"/>
              </a:rPr>
              <a:t>486</a:t>
            </a:r>
            <a:r>
              <a:rPr lang="en-GB" sz="3600" dirty="0">
                <a:cs typeface="Arial"/>
              </a:rPr>
              <a:t> rows &amp; </a:t>
            </a:r>
            <a:r>
              <a:rPr lang="en-GB" sz="3600" dirty="0">
                <a:solidFill>
                  <a:schemeClr val="accent3"/>
                </a:solidFill>
                <a:cs typeface="Arial"/>
              </a:rPr>
              <a:t>30</a:t>
            </a:r>
            <a:r>
              <a:rPr lang="en-GB" sz="3600" dirty="0">
                <a:cs typeface="Arial"/>
              </a:rPr>
              <a:t> columns.</a:t>
            </a:r>
            <a:br>
              <a:rPr lang="en-GB" sz="3600" dirty="0">
                <a:solidFill>
                  <a:srgbClr val="FF0000"/>
                </a:solidFill>
                <a:cs typeface="Arial"/>
              </a:rPr>
            </a:br>
            <a:endParaRPr lang="en-GB" sz="3600" dirty="0">
              <a:solidFill>
                <a:srgbClr val="FF0000"/>
              </a:solidFill>
              <a:cs typeface="Arial"/>
            </a:endParaRPr>
          </a:p>
          <a:p>
            <a:endParaRPr lang="en-US" dirty="0">
              <a:solidFill>
                <a:srgbClr val="FF0000"/>
              </a:solidFill>
              <a:cs typeface="Arial"/>
            </a:endParaRPr>
          </a:p>
        </p:txBody>
      </p:sp>
      <p:pic>
        <p:nvPicPr>
          <p:cNvPr id="6" name="Picture 5">
            <a:extLst>
              <a:ext uri="{FF2B5EF4-FFF2-40B4-BE49-F238E27FC236}">
                <a16:creationId xmlns:a16="http://schemas.microsoft.com/office/drawing/2014/main" id="{9F19D2F5-4A5C-0940-CB82-64169E09B3B5}"/>
              </a:ext>
            </a:extLst>
          </p:cNvPr>
          <p:cNvPicPr>
            <a:picLocks noChangeAspect="1"/>
          </p:cNvPicPr>
          <p:nvPr/>
        </p:nvPicPr>
        <p:blipFill>
          <a:blip r:embed="rId3"/>
          <a:stretch>
            <a:fillRect/>
          </a:stretch>
        </p:blipFill>
        <p:spPr>
          <a:xfrm>
            <a:off x="2427269" y="3429000"/>
            <a:ext cx="7089545" cy="1543485"/>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sz="1600" dirty="0">
                <a:solidFill>
                  <a:srgbClr val="FF0000"/>
                </a:solidFill>
              </a:rPr>
              <a:t>:   </a:t>
            </a:r>
            <a:r>
              <a:rPr lang="en-US" sz="2400" dirty="0">
                <a:solidFill>
                  <a:schemeClr val="tx1"/>
                </a:solidFill>
              </a:rPr>
              <a:t>DS346 		nba_2017_br.csv</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609600" y="791022"/>
            <a:ext cx="10717161" cy="230832"/>
          </a:xfrm>
        </p:spPr>
        <p:txBody>
          <a:bodyPr/>
          <a:lstStyle/>
          <a:p>
            <a:r>
              <a:rPr lang="en-GB" dirty="0"/>
              <a:t>7COM1079-2025  Student Group No: B137     Names of Student Group Attendees: Mahipal, Poorni, Zaman, Ahmed &amp; Dheeraj</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2699181"/>
          </a:xfrm>
        </p:spPr>
        <p:txBody>
          <a:bodyPr>
            <a:noAutofit/>
          </a:bodyPr>
          <a:lstStyle/>
          <a:p>
            <a:pPr>
              <a:lnSpc>
                <a:spcPct val="100000"/>
              </a:lnSpc>
            </a:pPr>
            <a:r>
              <a:rPr lang="en-US" sz="2400" b="0" dirty="0">
                <a:latin typeface="Calibri"/>
                <a:cs typeface="Calibri"/>
              </a:rPr>
              <a:t>This dataset is interesting to us because:  It provides well quantitative information about NBA players’ performance, with which we can do statistical analysis.</a:t>
            </a:r>
            <a:br>
              <a:rPr lang="en-US" sz="2400" b="0" dirty="0">
                <a:latin typeface="Calibri" panose="020F0502020204030204" pitchFamily="34" charset="0"/>
                <a:cs typeface="Calibri" panose="020F0502020204030204" pitchFamily="34" charset="0"/>
              </a:rPr>
            </a:b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a:t>
            </a:r>
            <a:r>
              <a:rPr lang="en-US" sz="2400" b="0" dirty="0">
                <a:solidFill>
                  <a:srgbClr val="FF0000"/>
                </a:solidFill>
                <a:latin typeface="Calibri"/>
                <a:cs typeface="Calibri"/>
              </a:rPr>
              <a:t>MP (Minutes Played in Game)</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Independent variable datatype is: </a:t>
            </a:r>
            <a:r>
              <a:rPr lang="en-US" sz="2400" b="0" dirty="0">
                <a:solidFill>
                  <a:srgbClr val="FF0000"/>
                </a:solidFill>
                <a:latin typeface="Calibri"/>
                <a:cs typeface="Calibri"/>
              </a:rPr>
              <a:t>Interval/Measurement Data</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a:t>
            </a:r>
            <a:r>
              <a:rPr lang="en-US" sz="2400" b="0" dirty="0">
                <a:solidFill>
                  <a:srgbClr val="FF0000"/>
                </a:solidFill>
                <a:latin typeface="Calibri"/>
                <a:cs typeface="Calibri"/>
              </a:rPr>
              <a:t>PS/G (Points Scored per Game)</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Dependent variable datatype is  (select one): </a:t>
            </a:r>
            <a:r>
              <a:rPr lang="en-US" sz="2400" b="0" dirty="0">
                <a:solidFill>
                  <a:srgbClr val="FF0000"/>
                </a:solidFill>
                <a:latin typeface="Calibri"/>
                <a:cs typeface="Calibri"/>
              </a:rPr>
              <a:t>Interval/Measurement Data.</a:t>
            </a:r>
          </a:p>
        </p:txBody>
      </p:sp>
      <p:sp>
        <p:nvSpPr>
          <p:cNvPr id="6" name="TextBox 5">
            <a:extLst>
              <a:ext uri="{FF2B5EF4-FFF2-40B4-BE49-F238E27FC236}">
                <a16:creationId xmlns:a16="http://schemas.microsoft.com/office/drawing/2014/main" id="{732D6C0D-D649-2AA9-7741-835F3E841A25}"/>
              </a:ext>
            </a:extLst>
          </p:cNvPr>
          <p:cNvSpPr txBox="1"/>
          <p:nvPr/>
        </p:nvSpPr>
        <p:spPr>
          <a:xfrm>
            <a:off x="6766560" y="5385816"/>
            <a:ext cx="4187952" cy="1200329"/>
          </a:xfrm>
          <a:prstGeom prst="rect">
            <a:avLst/>
          </a:prstGeom>
          <a:noFill/>
        </p:spPr>
        <p:txBody>
          <a:bodyPr wrap="square" rtlCol="0">
            <a:spAutoFit/>
          </a:bodyPr>
          <a:lstStyle/>
          <a:p>
            <a:r>
              <a:rPr lang="en-GB">
                <a:solidFill>
                  <a:schemeClr val="accent2">
                    <a:lumMod val="75000"/>
                  </a:schemeClr>
                </a:solidFill>
              </a:rPr>
              <a:t>*For comparison of two nominal variables and for comparison of proportions you use two (or more) independent variables (see next slide)</a:t>
            </a:r>
          </a:p>
        </p:txBody>
      </p:sp>
    </p:spTree>
    <p:extLst>
      <p:ext uri="{BB962C8B-B14F-4D97-AF65-F5344CB8AC3E}">
        <p14:creationId xmlns:p14="http://schemas.microsoft.com/office/powerpoint/2010/main" val="1718004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 </a:t>
            </a:r>
            <a:r>
              <a:rPr lang="en-GB" sz="1800" dirty="0">
                <a:solidFill>
                  <a:srgbClr val="FF0000"/>
                </a:solidFill>
              </a:rPr>
              <a:t>Choose ONE of the three templates below replacing the blue text with your variables – then add hypotheses as shown in next slide:</a:t>
            </a: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a:xfrm>
            <a:off x="965289" y="791022"/>
            <a:ext cx="11440040" cy="230832"/>
          </a:xfrm>
        </p:spPr>
        <p:txBody>
          <a:bodyPr/>
          <a:lstStyle/>
          <a:p>
            <a:r>
              <a:rPr lang="en-GB" dirty="0"/>
              <a:t> Student Group No: B137 	      Names of Student Group Attendees: Mahipal, Poorni, Zaman, Ahmed &amp; Dheeraj</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4"/>
            <a:ext cx="10640594" cy="2678085"/>
          </a:xfrm>
        </p:spPr>
        <p:txBody>
          <a:bodyPr>
            <a:noAutofit/>
          </a:bodyPr>
          <a:lstStyle/>
          <a:p>
            <a:pPr>
              <a:lnSpc>
                <a:spcPct val="100000"/>
              </a:lnSpc>
            </a:pPr>
            <a:br>
              <a:rPr lang="en-IE" sz="2400" dirty="0">
                <a:effectLst/>
                <a:latin typeface="Calibri"/>
                <a:ea typeface="Calibri" panose="020F0502020204030204" pitchFamily="34" charset="0"/>
                <a:cs typeface="Times New Roman"/>
              </a:rPr>
            </a:br>
            <a:br>
              <a:rPr lang="en-IE" sz="2400" dirty="0">
                <a:effectLst/>
                <a:latin typeface="Calibri"/>
                <a:ea typeface="Calibri" panose="020F0502020204030204" pitchFamily="34" charset="0"/>
                <a:cs typeface="Times New Roman"/>
              </a:rPr>
            </a:br>
            <a:r>
              <a:rPr lang="en-IE" sz="2400" dirty="0">
                <a:effectLst/>
                <a:latin typeface="Calibri"/>
                <a:ea typeface="Calibri" panose="020F0502020204030204" pitchFamily="34" charset="0"/>
                <a:cs typeface="Times New Roman"/>
              </a:rPr>
              <a:t>Template </a:t>
            </a:r>
            <a:r>
              <a:rPr lang="en-IE" sz="2400" baseline="30000" dirty="0">
                <a:effectLst/>
                <a:latin typeface="Calibri"/>
                <a:ea typeface="Calibri" panose="020F0502020204030204" pitchFamily="34" charset="0"/>
                <a:cs typeface="Times New Roman"/>
              </a:rPr>
              <a:t>1</a:t>
            </a:r>
            <a:r>
              <a:rPr lang="en-IE" sz="2400" dirty="0">
                <a:effectLst/>
                <a:latin typeface="Calibri"/>
                <a:ea typeface="Calibri" panose="020F0502020204030204" pitchFamily="34" charset="0"/>
                <a:cs typeface="Times New Roman"/>
              </a:rPr>
              <a:t>: </a:t>
            </a:r>
            <a:r>
              <a:rPr lang="en-IE" sz="2400" b="0" dirty="0">
                <a:effectLst/>
                <a:latin typeface="Calibri"/>
                <a:ea typeface="Calibri" panose="020F0502020204030204" pitchFamily="34" charset="0"/>
                <a:cs typeface="Times New Roman"/>
              </a:rPr>
              <a:t>Interval/Ordinal vs Interval/Ordinal: “Is there a correlation between </a:t>
            </a:r>
            <a:r>
              <a:rPr lang="en-IE" sz="2400" b="0" dirty="0">
                <a:solidFill>
                  <a:srgbClr val="0070C0"/>
                </a:solidFill>
                <a:latin typeface="Calibri"/>
                <a:ea typeface="Calibri" panose="020F0502020204030204" pitchFamily="34" charset="0"/>
                <a:cs typeface="Times New Roman"/>
              </a:rPr>
              <a:t>PS/G </a:t>
            </a:r>
            <a:r>
              <a:rPr lang="en-IE" sz="2400" b="0" dirty="0">
                <a:effectLst/>
                <a:latin typeface="Calibri"/>
                <a:ea typeface="Calibri" panose="020F0502020204030204" pitchFamily="34" charset="0"/>
                <a:cs typeface="Times New Roman"/>
              </a:rPr>
              <a:t>and </a:t>
            </a:r>
            <a:r>
              <a:rPr lang="en-IE" sz="2400" b="0">
                <a:solidFill>
                  <a:srgbClr val="0070C0"/>
                </a:solidFill>
                <a:latin typeface="Calibri"/>
                <a:ea typeface="Calibri" panose="020F0502020204030204" pitchFamily="34" charset="0"/>
                <a:cs typeface="Times New Roman"/>
              </a:rPr>
              <a:t>MP</a:t>
            </a:r>
            <a:r>
              <a:rPr lang="en-IE" sz="2400" b="0">
                <a:latin typeface="Calibri"/>
                <a:ea typeface="Calibri" panose="020F0502020204030204" pitchFamily="34" charset="0"/>
                <a:cs typeface="Times New Roman"/>
              </a:rPr>
              <a:t>? ”</a:t>
            </a:r>
            <a:br>
              <a:rPr lang="en-IE" sz="2400" b="0" dirty="0">
                <a:latin typeface="Calibri"/>
                <a:ea typeface="Calibri" panose="020F0502020204030204" pitchFamily="34" charset="0"/>
                <a:cs typeface="Times New Roman"/>
              </a:rPr>
            </a:br>
            <a:r>
              <a:rPr lang="en-IE" sz="2400" b="0" dirty="0">
                <a:latin typeface="Calibri"/>
                <a:ea typeface="Calibri" panose="020F0502020204030204" pitchFamily="34" charset="0"/>
                <a:cs typeface="Times New Roman"/>
              </a:rPr>
              <a:t> </a:t>
            </a:r>
            <a:br>
              <a:rPr lang="en-IE" sz="2400" b="0" dirty="0">
                <a:latin typeface="Calibri"/>
                <a:ea typeface="Calibri" panose="020F0502020204030204" pitchFamily="34" charset="0"/>
                <a:cs typeface="Times New Roman"/>
              </a:rPr>
            </a:br>
            <a:r>
              <a:rPr lang="en-IE" sz="2400" b="0" dirty="0">
                <a:latin typeface="Calibri"/>
                <a:ea typeface="Calibri" panose="020F0502020204030204" pitchFamily="34" charset="0"/>
                <a:cs typeface="Times New Roman"/>
              </a:rPr>
              <a:t>In simpler terms: Do players scoring more </a:t>
            </a:r>
            <a:r>
              <a:rPr lang="en-IE" sz="2400" b="0" dirty="0">
                <a:solidFill>
                  <a:schemeClr val="accent4"/>
                </a:solidFill>
                <a:latin typeface="Calibri"/>
                <a:ea typeface="Calibri" panose="020F0502020204030204" pitchFamily="34" charset="0"/>
                <a:cs typeface="Times New Roman"/>
              </a:rPr>
              <a:t>points </a:t>
            </a:r>
            <a:r>
              <a:rPr lang="en-IE" sz="2400" b="0" dirty="0">
                <a:latin typeface="Calibri"/>
                <a:ea typeface="Calibri" panose="020F0502020204030204" pitchFamily="34" charset="0"/>
                <a:cs typeface="Times New Roman"/>
              </a:rPr>
              <a:t>if they play more </a:t>
            </a:r>
            <a:r>
              <a:rPr lang="en-IE" sz="2400" b="0" dirty="0">
                <a:solidFill>
                  <a:schemeClr val="accent4"/>
                </a:solidFill>
                <a:latin typeface="Calibri"/>
                <a:ea typeface="Calibri" panose="020F0502020204030204" pitchFamily="34" charset="0"/>
                <a:cs typeface="Times New Roman"/>
              </a:rPr>
              <a:t>time</a:t>
            </a:r>
            <a:r>
              <a:rPr lang="en-IE" sz="2400" b="0" dirty="0">
                <a:latin typeface="Calibri"/>
                <a:ea typeface="Calibri" panose="020F0502020204030204" pitchFamily="34" charset="0"/>
                <a:cs typeface="Times New Roman"/>
              </a:rPr>
              <a:t> in a game?</a:t>
            </a:r>
            <a:br>
              <a:rPr lang="en-IE" sz="2400" dirty="0">
                <a:effectLst/>
                <a:latin typeface="Calibri" panose="020F0502020204030204" pitchFamily="34" charset="0"/>
                <a:ea typeface="Calibri" panose="020F0502020204030204" pitchFamily="34" charset="0"/>
                <a:cs typeface="Times New Roman" panose="02020603050405020304" pitchFamily="18" charset="0"/>
              </a:rPr>
            </a:br>
            <a:br>
              <a:rPr lang="en-IE" sz="2400" dirty="0">
                <a:effectLst/>
                <a:latin typeface="Calibri" panose="020F0502020204030204" pitchFamily="34" charset="0"/>
                <a:ea typeface="Calibri" panose="020F0502020204030204" pitchFamily="34" charset="0"/>
                <a:cs typeface="Times New Roman" panose="02020603050405020304" pitchFamily="18" charset="0"/>
              </a:rPr>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
        <p:nvSpPr>
          <p:cNvPr id="7" name="TextBox 6">
            <a:extLst>
              <a:ext uri="{FF2B5EF4-FFF2-40B4-BE49-F238E27FC236}">
                <a16:creationId xmlns:a16="http://schemas.microsoft.com/office/drawing/2014/main" id="{F7FEA660-7B39-BC91-3B96-7298CCF66DE1}"/>
              </a:ext>
            </a:extLst>
          </p:cNvPr>
          <p:cNvSpPr txBox="1"/>
          <p:nvPr/>
        </p:nvSpPr>
        <p:spPr>
          <a:xfrm>
            <a:off x="623945" y="5297755"/>
            <a:ext cx="11440040" cy="1477328"/>
          </a:xfrm>
          <a:prstGeom prst="rect">
            <a:avLst/>
          </a:prstGeom>
          <a:solidFill>
            <a:schemeClr val="bg1">
              <a:lumMod val="95000"/>
            </a:schemeClr>
          </a:solidFill>
        </p:spPr>
        <p:txBody>
          <a:bodyPr wrap="square" lIns="91440" tIns="45720" rIns="91440" bIns="45720" rtlCol="0" anchor="t">
            <a:spAutoFit/>
          </a:bodyPr>
          <a:lstStyle/>
          <a:p>
            <a:r>
              <a:rPr lang="en-GB" baseline="30000" dirty="0"/>
              <a:t>1</a:t>
            </a:r>
            <a:r>
              <a:rPr lang="en-GB" b="1" dirty="0">
                <a:latin typeface="Calibri"/>
                <a:cs typeface="Calibri"/>
              </a:rPr>
              <a:t>Correlation</a:t>
            </a:r>
            <a:r>
              <a:rPr lang="en-GB" dirty="0"/>
              <a:t> (</a:t>
            </a:r>
            <a:r>
              <a:rPr lang="en-IE" sz="1800" dirty="0">
                <a:effectLst/>
                <a:latin typeface="Calibri"/>
                <a:ea typeface="Calibri" panose="020F0502020204030204" pitchFamily="34" charset="0"/>
                <a:cs typeface="Times New Roman"/>
              </a:rPr>
              <a:t>Analysis of how </a:t>
            </a:r>
            <a:r>
              <a:rPr lang="en-IE" sz="1800" dirty="0">
                <a:solidFill>
                  <a:srgbClr val="FF0000"/>
                </a:solidFill>
                <a:effectLst/>
                <a:latin typeface="Calibri"/>
                <a:ea typeface="Calibri" panose="020F0502020204030204" pitchFamily="34" charset="0"/>
                <a:cs typeface="Times New Roman"/>
              </a:rPr>
              <a:t>ordinal</a:t>
            </a:r>
            <a:r>
              <a:rPr lang="en-IE" dirty="0">
                <a:solidFill>
                  <a:srgbClr val="FF0000"/>
                </a:solidFill>
                <a:latin typeface="Calibri"/>
                <a:ea typeface="Calibri" panose="020F0502020204030204" pitchFamily="34" charset="0"/>
                <a:cs typeface="Times New Roman"/>
              </a:rPr>
              <a:t>/</a:t>
            </a:r>
            <a:r>
              <a:rPr lang="en-IE" sz="1800" dirty="0">
                <a:solidFill>
                  <a:srgbClr val="FF0000"/>
                </a:solidFill>
                <a:effectLst/>
                <a:latin typeface="Calibri"/>
                <a:ea typeface="Calibri" panose="020F0502020204030204" pitchFamily="34" charset="0"/>
                <a:cs typeface="Times New Roman"/>
              </a:rPr>
              <a:t>interval </a:t>
            </a:r>
            <a:r>
              <a:rPr lang="en-IE" sz="1800" dirty="0">
                <a:solidFill>
                  <a:srgbClr val="00B050"/>
                </a:solidFill>
                <a:effectLst/>
                <a:latin typeface="Calibri"/>
                <a:ea typeface="Calibri" panose="020F0502020204030204" pitchFamily="34" charset="0"/>
                <a:cs typeface="Times New Roman"/>
              </a:rPr>
              <a:t>dependent var</a:t>
            </a:r>
            <a:r>
              <a:rPr lang="en-IE" sz="1800" dirty="0">
                <a:effectLst/>
                <a:latin typeface="Calibri"/>
                <a:ea typeface="Calibri" panose="020F0502020204030204" pitchFamily="34" charset="0"/>
                <a:cs typeface="Times New Roman"/>
              </a:rPr>
              <a:t> </a:t>
            </a:r>
            <a:r>
              <a:rPr lang="en-IE" dirty="0">
                <a:latin typeface="Calibri"/>
                <a:ea typeface="Calibri" panose="020F0502020204030204" pitchFamily="34" charset="0"/>
                <a:cs typeface="Times New Roman"/>
              </a:rPr>
              <a:t>correlates </a:t>
            </a:r>
            <a:r>
              <a:rPr lang="en-IE" sz="1800" dirty="0">
                <a:effectLst/>
                <a:latin typeface="Calibri"/>
                <a:ea typeface="Calibri" panose="020F0502020204030204" pitchFamily="34" charset="0"/>
                <a:cs typeface="Times New Roman"/>
              </a:rPr>
              <a:t>to an </a:t>
            </a:r>
            <a:r>
              <a:rPr lang="en-IE" sz="1800" dirty="0">
                <a:solidFill>
                  <a:srgbClr val="FF0000"/>
                </a:solidFill>
                <a:effectLst/>
                <a:latin typeface="Calibri"/>
                <a:ea typeface="Calibri" panose="020F0502020204030204" pitchFamily="34" charset="0"/>
                <a:cs typeface="Times New Roman"/>
              </a:rPr>
              <a:t>ordinal/interval </a:t>
            </a:r>
            <a:r>
              <a:rPr lang="en-IE" sz="1800" dirty="0">
                <a:solidFill>
                  <a:srgbClr val="00B050"/>
                </a:solidFill>
                <a:effectLst/>
                <a:latin typeface="Calibri"/>
                <a:ea typeface="Calibri" panose="020F0502020204030204" pitchFamily="34" charset="0"/>
                <a:cs typeface="Times New Roman"/>
              </a:rPr>
              <a:t>independent variable)</a:t>
            </a:r>
            <a:endParaRPr lang="en-GB" dirty="0">
              <a:latin typeface="Calibri"/>
              <a:cs typeface="Times New Roman"/>
            </a:endParaRPr>
          </a:p>
          <a:p>
            <a:r>
              <a:rPr lang="en-IE" sz="1800" b="1" baseline="30000" dirty="0">
                <a:effectLst/>
                <a:latin typeface="Calibri" panose="020F0502020204030204" pitchFamily="34" charset="0"/>
                <a:ea typeface="Calibri" panose="020F0502020204030204" pitchFamily="34" charset="0"/>
                <a:cs typeface="Times New Roman" panose="02020603050405020304" pitchFamily="18" charset="0"/>
              </a:rPr>
              <a:t>2</a:t>
            </a:r>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dirty="0">
                <a:effectLst/>
                <a:latin typeface="Calibri" panose="020F0502020204030204" pitchFamily="34" charset="0"/>
                <a:ea typeface="Calibri" panose="020F0502020204030204" pitchFamily="34" charset="0"/>
                <a:cs typeface="Times New Roman" panose="02020603050405020304" pitchFamily="18" charset="0"/>
              </a:rPr>
              <a:t> (or medians): Analysis of the difference between the mean (or median) value of a characteristic shared by members of two different populations.</a:t>
            </a:r>
          </a:p>
          <a:p>
            <a:r>
              <a:rPr lang="en-IE" sz="1800" b="1" baseline="30000" dirty="0">
                <a:effectLst/>
                <a:latin typeface="Calibri" panose="020F0502020204030204" pitchFamily="34" charset="0"/>
                <a:ea typeface="Calibri" panose="020F0502020204030204" pitchFamily="34" charset="0"/>
                <a:cs typeface="Times New Roman" panose="02020603050405020304" pitchFamily="18" charset="0"/>
              </a:rPr>
              <a:t>3</a:t>
            </a:r>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proportions:</a:t>
            </a:r>
            <a:r>
              <a:rPr lang="en-IE" sz="1800" dirty="0">
                <a:effectLst/>
                <a:latin typeface="Calibri" panose="020F0502020204030204" pitchFamily="34" charset="0"/>
                <a:ea typeface="Calibri" panose="020F0502020204030204" pitchFamily="34" charset="0"/>
                <a:cs typeface="Times New Roman" panose="02020603050405020304" pitchFamily="18" charset="0"/>
              </a:rPr>
              <a:t> Analysis of the difference in proportions of a characteristic shared by members of two different populations. </a:t>
            </a:r>
            <a:endParaRPr lang="en-GB" dirty="0"/>
          </a:p>
        </p:txBody>
      </p:sp>
    </p:spTree>
    <p:extLst>
      <p:ext uri="{BB962C8B-B14F-4D97-AF65-F5344CB8AC3E}">
        <p14:creationId xmlns:p14="http://schemas.microsoft.com/office/powerpoint/2010/main" val="32494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1219" y="284375"/>
            <a:ext cx="10406581" cy="1391600"/>
          </a:xfrm>
        </p:spPr>
        <p:txBody>
          <a:bodyPr vert="horz" lIns="0" tIns="0" rIns="0" bIns="0" rtlCol="0" anchor="t">
            <a:noAutofit/>
          </a:bodyPr>
          <a:lstStyle/>
          <a:p>
            <a:pPr>
              <a:lnSpc>
                <a:spcPct val="100000"/>
              </a:lnSpc>
            </a:pPr>
            <a:r>
              <a:rPr lang="en-GB" sz="2400" b="0" dirty="0">
                <a:latin typeface="Calibri"/>
                <a:cs typeface="Calibri"/>
              </a:rPr>
              <a:t>Add your </a:t>
            </a:r>
            <a:r>
              <a:rPr lang="en-GB" sz="2400" dirty="0">
                <a:latin typeface="Calibri"/>
                <a:cs typeface="Calibri"/>
              </a:rPr>
              <a:t>Hypotheses</a:t>
            </a:r>
            <a:r>
              <a:rPr lang="en-GB" sz="2400" b="0" dirty="0">
                <a:latin typeface="Calibri"/>
                <a:cs typeface="Calibri"/>
              </a:rPr>
              <a:t> to the previous RQ Slide  (both the Null and Alternative Hypotheses).  Here are definitions and examples. </a:t>
            </a:r>
            <a:r>
              <a:rPr lang="en-GB" sz="2400" dirty="0">
                <a:latin typeface="Calibri"/>
                <a:cs typeface="Calibri"/>
              </a:rPr>
              <a:t>Your hypothesis wording comes directly from your RQ</a:t>
            </a:r>
            <a:r>
              <a:rPr lang="en-GB" sz="2400" b="0" dirty="0">
                <a:latin typeface="Calibri"/>
                <a:cs typeface="Calibri"/>
              </a:rPr>
              <a:t>. This is the formal way of reporting the results of your inferential test statistics,  in which we report the </a:t>
            </a:r>
            <a:r>
              <a:rPr lang="en-GB" sz="2400" b="0" i="1" dirty="0">
                <a:latin typeface="Calibri"/>
                <a:cs typeface="Calibri"/>
              </a:rPr>
              <a:t>effect</a:t>
            </a:r>
            <a:r>
              <a:rPr lang="en-GB" sz="2400" b="0" dirty="0">
                <a:latin typeface="Calibri"/>
                <a:cs typeface="Calibri"/>
              </a:rPr>
              <a:t> the independent variable has on the dependent variable – </a:t>
            </a:r>
          </a:p>
          <a:p>
            <a:pPr>
              <a:lnSpc>
                <a:spcPct val="100000"/>
              </a:lnSpc>
            </a:pPr>
            <a:endParaRPr lang="en-GB" sz="2400" b="0" dirty="0">
              <a:latin typeface="Calibri"/>
              <a:cs typeface="Calibri"/>
            </a:endParaRPr>
          </a:p>
          <a:p>
            <a:pPr marL="457200" indent="-457200">
              <a:lnSpc>
                <a:spcPct val="100000"/>
              </a:lnSpc>
              <a:buAutoNum type="arabicPeriod"/>
            </a:pPr>
            <a:r>
              <a:rPr lang="en-GB" sz="2000" b="0" dirty="0">
                <a:latin typeface="Arial"/>
                <a:cs typeface="Arial"/>
              </a:rPr>
              <a:t>Null hypothesis (H</a:t>
            </a:r>
            <a:r>
              <a:rPr lang="en-GB" sz="2000" b="0" baseline="-25000" dirty="0">
                <a:latin typeface="Arial"/>
                <a:cs typeface="Arial"/>
              </a:rPr>
              <a:t>0</a:t>
            </a:r>
            <a:r>
              <a:rPr lang="en-GB" sz="2000" b="0" dirty="0">
                <a:latin typeface="Arial"/>
                <a:cs typeface="Arial"/>
              </a:rPr>
              <a:t>): </a:t>
            </a:r>
          </a:p>
          <a:p>
            <a:pPr>
              <a:lnSpc>
                <a:spcPct val="100000"/>
              </a:lnSpc>
            </a:pPr>
            <a:r>
              <a:rPr lang="en-GB" sz="2000" b="0" dirty="0">
                <a:solidFill>
                  <a:srgbClr val="FF0000"/>
                </a:solidFill>
                <a:latin typeface="Arial"/>
                <a:cs typeface="Arial"/>
              </a:rPr>
              <a:t>	Null hypothesis (H</a:t>
            </a:r>
            <a:r>
              <a:rPr lang="en-GB" sz="2000" b="0" baseline="-25000" dirty="0">
                <a:solidFill>
                  <a:srgbClr val="FF0000"/>
                </a:solidFill>
                <a:latin typeface="Arial"/>
                <a:cs typeface="Arial"/>
              </a:rPr>
              <a:t>0</a:t>
            </a:r>
            <a:r>
              <a:rPr lang="en-GB" sz="2000" b="0" dirty="0">
                <a:solidFill>
                  <a:srgbClr val="FF0000"/>
                </a:solidFill>
                <a:latin typeface="Arial"/>
                <a:cs typeface="Arial"/>
              </a:rPr>
              <a:t>): There is </a:t>
            </a:r>
            <a:r>
              <a:rPr lang="en-GB" sz="2000" dirty="0">
                <a:solidFill>
                  <a:srgbClr val="FF0000"/>
                </a:solidFill>
                <a:latin typeface="Arial"/>
                <a:cs typeface="Arial"/>
              </a:rPr>
              <a:t>no</a:t>
            </a:r>
            <a:r>
              <a:rPr lang="en-GB" sz="2000" b="0" dirty="0">
                <a:solidFill>
                  <a:srgbClr val="FF0000"/>
                </a:solidFill>
                <a:latin typeface="Arial"/>
                <a:cs typeface="Arial"/>
              </a:rPr>
              <a:t> correlation between </a:t>
            </a:r>
            <a:r>
              <a:rPr lang="en-GB" sz="2000" b="0" dirty="0">
                <a:solidFill>
                  <a:schemeClr val="accent4"/>
                </a:solidFill>
                <a:latin typeface="Arial"/>
                <a:cs typeface="Arial"/>
              </a:rPr>
              <a:t>PS/G</a:t>
            </a:r>
            <a:r>
              <a:rPr lang="en-GB" sz="2000" b="0" dirty="0">
                <a:solidFill>
                  <a:srgbClr val="FF0000"/>
                </a:solidFill>
                <a:latin typeface="Arial"/>
                <a:cs typeface="Arial"/>
              </a:rPr>
              <a:t> and </a:t>
            </a:r>
            <a:r>
              <a:rPr lang="en-GB" sz="2000" b="0" dirty="0">
                <a:solidFill>
                  <a:schemeClr val="accent4"/>
                </a:solidFill>
                <a:latin typeface="Arial"/>
                <a:cs typeface="Arial"/>
              </a:rPr>
              <a:t>MP</a:t>
            </a:r>
            <a:r>
              <a:rPr lang="en-GB" sz="2000" b="0" dirty="0">
                <a:solidFill>
                  <a:srgbClr val="FF0000"/>
                </a:solidFill>
                <a:latin typeface="Arial"/>
                <a:cs typeface="Arial"/>
              </a:rPr>
              <a:t>.</a:t>
            </a:r>
          </a:p>
          <a:p>
            <a:pPr>
              <a:lnSpc>
                <a:spcPct val="100000"/>
              </a:lnSpc>
            </a:pPr>
            <a:r>
              <a:rPr lang="en-GB" sz="2000" b="0" dirty="0">
                <a:latin typeface="Arial"/>
                <a:cs typeface="Arial"/>
              </a:rPr>
              <a:t>2. Alternative hypothesis (H</a:t>
            </a:r>
            <a:r>
              <a:rPr lang="en-GB" sz="2000" b="0" baseline="-25000" dirty="0">
                <a:latin typeface="Arial"/>
                <a:cs typeface="Arial"/>
              </a:rPr>
              <a:t>1</a:t>
            </a:r>
            <a:r>
              <a:rPr lang="en-GB" sz="2000" b="0" dirty="0">
                <a:latin typeface="Arial"/>
                <a:cs typeface="Arial"/>
              </a:rPr>
              <a:t>):  </a:t>
            </a:r>
          </a:p>
          <a:p>
            <a:pPr>
              <a:lnSpc>
                <a:spcPct val="100000"/>
              </a:lnSpc>
            </a:pPr>
            <a:r>
              <a:rPr lang="en-GB" sz="2000" b="0" dirty="0">
                <a:solidFill>
                  <a:srgbClr val="FF0000"/>
                </a:solidFill>
                <a:latin typeface="Arial"/>
                <a:cs typeface="Arial"/>
              </a:rPr>
              <a:t>	Alt hypothesis (H</a:t>
            </a:r>
            <a:r>
              <a:rPr lang="en-GB" sz="2000" b="0" baseline="-25000" dirty="0">
                <a:solidFill>
                  <a:srgbClr val="FF0000"/>
                </a:solidFill>
                <a:latin typeface="Arial"/>
                <a:cs typeface="Arial"/>
              </a:rPr>
              <a:t>1</a:t>
            </a:r>
            <a:r>
              <a:rPr lang="en-GB" sz="2000" b="0" dirty="0">
                <a:solidFill>
                  <a:srgbClr val="FF0000"/>
                </a:solidFill>
                <a:latin typeface="Arial"/>
                <a:cs typeface="Arial"/>
              </a:rPr>
              <a:t>): There is </a:t>
            </a:r>
            <a:r>
              <a:rPr lang="en-GB" sz="2000" dirty="0">
                <a:solidFill>
                  <a:srgbClr val="FF0000"/>
                </a:solidFill>
                <a:latin typeface="Arial"/>
                <a:cs typeface="Arial"/>
              </a:rPr>
              <a:t>a</a:t>
            </a:r>
            <a:r>
              <a:rPr lang="en-GB" sz="2000" b="0" dirty="0">
                <a:solidFill>
                  <a:srgbClr val="FF0000"/>
                </a:solidFill>
                <a:latin typeface="Arial"/>
                <a:cs typeface="Arial"/>
              </a:rPr>
              <a:t> correlation </a:t>
            </a:r>
            <a:r>
              <a:rPr lang="en-GB" sz="2000" b="0" dirty="0">
                <a:solidFill>
                  <a:srgbClr val="FF0000"/>
                </a:solidFill>
                <a:cs typeface="Arial"/>
              </a:rPr>
              <a:t>between </a:t>
            </a:r>
            <a:r>
              <a:rPr lang="en-GB" sz="2000" b="0" dirty="0">
                <a:solidFill>
                  <a:schemeClr val="accent4"/>
                </a:solidFill>
                <a:cs typeface="Arial"/>
              </a:rPr>
              <a:t>PS/G</a:t>
            </a:r>
            <a:r>
              <a:rPr lang="en-GB" sz="2000" b="0" dirty="0">
                <a:solidFill>
                  <a:srgbClr val="FF0000"/>
                </a:solidFill>
                <a:cs typeface="Arial"/>
              </a:rPr>
              <a:t> and </a:t>
            </a:r>
            <a:r>
              <a:rPr lang="en-GB" sz="2000" b="0" dirty="0">
                <a:solidFill>
                  <a:schemeClr val="accent4"/>
                </a:solidFill>
                <a:cs typeface="Arial"/>
              </a:rPr>
              <a:t>MP</a:t>
            </a:r>
            <a:r>
              <a:rPr lang="en-GB" sz="2000" b="0" dirty="0">
                <a:solidFill>
                  <a:srgbClr val="FF0000"/>
                </a:solidFill>
                <a:cs typeface="Arial"/>
              </a:rPr>
              <a:t>.</a:t>
            </a:r>
          </a:p>
          <a:p>
            <a:pPr>
              <a:lnSpc>
                <a:spcPct val="100000"/>
              </a:lnSpc>
            </a:pPr>
            <a:endParaRPr lang="en-GB" sz="2000" b="0" dirty="0">
              <a:solidFill>
                <a:srgbClr val="FF0000"/>
              </a:solidFill>
              <a:latin typeface="Arial"/>
              <a:cs typeface="Arial"/>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6" name="TextBox 5">
            <a:extLst>
              <a:ext uri="{FF2B5EF4-FFF2-40B4-BE49-F238E27FC236}">
                <a16:creationId xmlns:a16="http://schemas.microsoft.com/office/drawing/2014/main" id="{1841CE34-1B2E-88D5-0C3F-506E8C37BB7B}"/>
              </a:ext>
            </a:extLst>
          </p:cNvPr>
          <p:cNvSpPr txBox="1"/>
          <p:nvPr/>
        </p:nvSpPr>
        <p:spPr>
          <a:xfrm>
            <a:off x="3356146" y="5298491"/>
            <a:ext cx="7811780" cy="1477328"/>
          </a:xfrm>
          <a:prstGeom prst="rect">
            <a:avLst/>
          </a:prstGeom>
          <a:noFill/>
        </p:spPr>
        <p:txBody>
          <a:bodyPr wrap="square" lIns="91440" tIns="45720" rIns="91440" bIns="45720" anchor="t">
            <a:spAutoFit/>
          </a:bodyPr>
          <a:lstStyle/>
          <a:p>
            <a:r>
              <a:rPr lang="en-GB"/>
              <a:t>L</a:t>
            </a:r>
            <a:r>
              <a:rPr lang="en-GB" sz="1800" b="0"/>
              <a:t>eave the hypotheses as </a:t>
            </a:r>
            <a:r>
              <a:rPr lang="en-GB"/>
              <a:t>two </a:t>
            </a:r>
            <a:r>
              <a:rPr lang="en-GB" sz="1800" b="0"/>
              <a:t>statements for now – after your </a:t>
            </a:r>
            <a:r>
              <a:rPr lang="en-GB"/>
              <a:t>statistical </a:t>
            </a:r>
            <a:r>
              <a:rPr lang="en-GB" sz="1800" b="0"/>
              <a:t>analysis </a:t>
            </a:r>
            <a:r>
              <a:rPr lang="en-GB"/>
              <a:t>test, </a:t>
            </a:r>
            <a:r>
              <a:rPr lang="en-GB" sz="1800" b="0"/>
              <a:t>you </a:t>
            </a:r>
            <a:r>
              <a:rPr lang="en-GB"/>
              <a:t>will </a:t>
            </a:r>
            <a:r>
              <a:rPr lang="en-GB" sz="1800" b="0"/>
              <a:t>choose one or the other.</a:t>
            </a:r>
            <a:r>
              <a:rPr lang="en-GB"/>
              <a:t> (</a:t>
            </a:r>
            <a:r>
              <a:rPr lang="en-GB" i="1"/>
              <a:t>You will report: "We fail to reject the null hypothesis" with no significant result, or if you do have significance [p-value = &lt; 0.05] you can state "We reject the null hypothesis".   More guidance on hypothesis testing is given in the lectures</a:t>
            </a:r>
            <a:r>
              <a:rPr lang="en-GB"/>
              <a:t>.)</a:t>
            </a:r>
            <a:endParaRPr lang="en-GB">
              <a:cs typeface="Arial"/>
            </a:endParaRPr>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1090</Words>
  <Application>Microsoft Office PowerPoint</Application>
  <PresentationFormat>Widescreen</PresentationFormat>
  <Paragraphs>47</Paragraphs>
  <Slides>6</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Herts Theme</vt:lpstr>
      <vt:lpstr>PowerPoint Presentation</vt:lpstr>
      <vt:lpstr>Research Question –  Tutorial Presentation for Feedback Date:  24/11/2025 </vt:lpstr>
      <vt:lpstr>The columns/variable names: MP &amp; PS/G. Here are first 5 rows of the data.      Our Dataset has 486 rows &amp; 30 columns.  </vt:lpstr>
      <vt:lpstr>This dataset is interesting to us because:  It provides well quantitative information about NBA players’ performance, with which we can do statistical analysis.  Our  Independent variable is: MP (Minutes Played in Game)                    This  Independent variable datatype is: Interval/Measurement Data Our Dependent variable is: PS/G (Points Scored per Game)                    This Dependent variable datatype is  (select one): Interval/Measurement Data.</vt:lpstr>
      <vt:lpstr>  Template 1: Interval/Ordinal vs Interval/Ordinal: “Is there a correlation between PS/G and MP? ”   In simpler terms: Do players scoring more points if they play more time in a game?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Hyder Hussain</cp:lastModifiedBy>
  <cp:revision>124</cp:revision>
  <dcterms:created xsi:type="dcterms:W3CDTF">2019-10-01T08:37:56Z</dcterms:created>
  <dcterms:modified xsi:type="dcterms:W3CDTF">2025-12-12T14:48:19Z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