
<file path=[Content_Types].xml><?xml version="1.0" encoding="utf-8"?>
<Types xmlns="http://schemas.openxmlformats.org/package/2006/content-types">
  <Default Extension="xml" ContentType="application/xml"/>
  <Default Extension="jpeg" ContentType="image/jpeg"/>
  <Default Extension="JPG" ContentType="image/.jpg"/>
  <Default Extension="png" ContentType="image/png"/>
  <Default Extension="emf" ContentType="image/x-emf"/>
  <Default Extension="rels" ContentType="application/vnd.openxmlformats-package.relationship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
  </p:notesMasterIdLst>
  <p:handoutMasterIdLst>
    <p:handoutMasterId r:id="rId10"/>
  </p:handoutMasterIdLst>
  <p:sldIdLst>
    <p:sldId id="337" r:id="rId3"/>
    <p:sldId id="289" r:id="rId4"/>
    <p:sldId id="340" r:id="rId5"/>
    <p:sldId id="329" r:id="rId7"/>
    <p:sldId id="336" r:id="rId8"/>
    <p:sldId id="341"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3249" userDrawn="1">
          <p15:clr>
            <a:srgbClr val="A4A3A4"/>
          </p15:clr>
        </p15:guide>
        <p15:guide id="4" pos="7068" userDrawn="1">
          <p15:clr>
            <a:srgbClr val="A4A3A4"/>
          </p15:clr>
        </p15:guide>
        <p15:guide id="5" orient="horz" pos="13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97CBE"/>
    <a:srgbClr val="85509A"/>
    <a:srgbClr val="714484"/>
    <a:srgbClr val="0073CF"/>
    <a:srgbClr val="203232"/>
    <a:srgbClr val="30454F"/>
    <a:srgbClr val="1295D8"/>
    <a:srgbClr val="004A5C"/>
    <a:srgbClr val="0093B6"/>
    <a:srgbClr val="00B9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660"/>
  </p:normalViewPr>
  <p:slideViewPr>
    <p:cSldViewPr snapToGrid="0" showGuides="1">
      <p:cViewPr varScale="1">
        <p:scale>
          <a:sx n="78" d="100"/>
          <a:sy n="78" d="100"/>
        </p:scale>
        <p:origin x="850" y="91"/>
      </p:cViewPr>
      <p:guideLst>
        <p:guide orient="horz" pos="2160"/>
        <p:guide pos="3840"/>
        <p:guide orient="horz" pos="3249"/>
        <p:guide pos="7068"/>
        <p:guide orient="horz" pos="13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notesMaster" Target="notesMasters/notesMaster1.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6" Type="http://schemas.openxmlformats.org/officeDocument/2006/relationships/customXml" Target="../customXml/item3.xml"/><Relationship Id="rId15" Type="http://schemas.openxmlformats.org/officeDocument/2006/relationships/customXml" Target="../customXml/item2.xml"/><Relationship Id="rId14" Type="http://schemas.openxmlformats.org/officeDocument/2006/relationships/customXml" Target="../customXml/item1.xml"/><Relationship Id="rId13" Type="http://schemas.openxmlformats.org/officeDocument/2006/relationships/tableStyles" Target="tableStyles.xml"/><Relationship Id="rId12" Type="http://schemas.openxmlformats.org/officeDocument/2006/relationships/viewProps" Target="viewProps.xml"/><Relationship Id="rId11" Type="http://schemas.openxmlformats.org/officeDocument/2006/relationships/presProps" Target="presProps.xml"/><Relationship Id="rId10" Type="http://schemas.openxmlformats.org/officeDocument/2006/relationships/handoutMaster" Target="handoutMasters/handoutMaster1.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3FAAC3A-BD1F-4A00-9099-74B95789FE00}" type="datetimeFigureOut">
              <a:rPr lang="en-GB" smtClean="0"/>
            </a:fld>
            <a:endParaRPr lang="en-GB"/>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51D9-0FEB-436E-9280-D6033F603547}" type="slidenum">
              <a:rPr lang="en-GB" smtClean="0"/>
            </a:fld>
            <a:endParaRPr lang="en-GB"/>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359C8A-39F6-4045-9163-4042C4C26B15}" type="datetimeFigureOut">
              <a:rPr lang="en-GB" smtClean="0"/>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370952-48CC-46D7-9FCD-59FAD40CC025}" type="slidenum">
              <a:rPr lang="en-GB" smtClean="0"/>
            </a:fld>
            <a:endParaRPr lang="en-GB"/>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fld>
            <a:endParaRPr lang="en-GB"/>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Before specifying your Research Question you must define the type of data you are analysing.  Are the variables you select interval data (measurement data you can divide, multiple, etc),  OR are they ordinal (there is a definite order but the intervals between each variable are not necessarily equal, or the terms might be subjective like in a </a:t>
            </a:r>
            <a:r>
              <a:rPr lang="en-GB" dirty="0" err="1"/>
              <a:t>likert</a:t>
            </a:r>
            <a:r>
              <a:rPr lang="en-GB" dirty="0"/>
              <a:t> scale); OR are they just categorical/nominal (Items such as film names, cities, etc., that you can count numbers of occurrences?   You also need to understand whether the variable is either dependent or independent and this will vary according to the context. Independent variables may cause an effect, whereas the dependent variable might be effected by the independent variable.  Check the lecture notes on the RQ for more information and examples.  </a:t>
            </a:r>
            <a:endParaRPr lang="en-GB" dirty="0"/>
          </a:p>
          <a:p>
            <a:endParaRPr lang="en-GB" dirty="0"/>
          </a:p>
          <a:p>
            <a:r>
              <a:rPr lang="en-GB" dirty="0"/>
              <a:t>You will get only one opportunity to present your Research Question ahead of the submission date.  Have your questions ready, and be ready to take notes on feedback.</a:t>
            </a:r>
            <a:endParaRPr lang="en-GB" dirty="0"/>
          </a:p>
        </p:txBody>
      </p:sp>
      <p:sp>
        <p:nvSpPr>
          <p:cNvPr id="4" name="Slide Number Placeholder 3"/>
          <p:cNvSpPr>
            <a:spLocks noGrp="1"/>
          </p:cNvSpPr>
          <p:nvPr>
            <p:ph type="sldNum" sz="quarter" idx="5"/>
          </p:nvPr>
        </p:nvSpPr>
        <p:spPr/>
        <p:txBody>
          <a:bodyPr/>
          <a:lstStyle/>
          <a:p>
            <a:fld id="{30370952-48CC-46D7-9FCD-59FAD40CC025}" type="slidenum">
              <a:rPr lang="en-GB" smtClean="0"/>
            </a:fld>
            <a:endParaRPr lang="en-GB"/>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fld>
            <a:endParaRPr lang="en-GB"/>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fld>
            <a:endParaRPr lang="en-GB"/>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descr="University of Hertfordshire logo"/>
          <p:cNvPicPr>
            <a:picLocks noChangeAspect="1"/>
          </p:cNvPicPr>
          <p:nvPr userDrawn="1"/>
        </p:nvPicPr>
        <p:blipFill>
          <a:blip r:embed="rId3"/>
          <a:stretch>
            <a:fillRect/>
          </a:stretch>
        </p:blipFill>
        <p:spPr>
          <a:xfrm>
            <a:off x="2844000" y="2854800"/>
            <a:ext cx="6501600" cy="1153633"/>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ection divi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bg1"/>
                </a:solidFill>
              </a:defRPr>
            </a:lvl1pPr>
          </a:lstStyle>
          <a:p>
            <a:r>
              <a:rPr lang="en-US"/>
              <a:t>Click to edit master title</a:t>
            </a:r>
            <a:endParaRPr lang="en-GB"/>
          </a:p>
        </p:txBody>
      </p:sp>
      <p:sp>
        <p:nvSpPr>
          <p:cNvPr id="3" name="Subtitle 2"/>
          <p:cNvSpPr>
            <a:spLocks noGrp="1"/>
          </p:cNvSpPr>
          <p:nvPr>
            <p:ph type="subTitle" idx="1" hasCustomPrompt="1"/>
          </p:nvPr>
        </p:nvSpPr>
        <p:spPr>
          <a:xfrm>
            <a:off x="954000" y="1890000"/>
            <a:ext cx="10031156" cy="360000"/>
          </a:xfrm>
        </p:spPr>
        <p:txBody>
          <a:bodyPr lIns="0" tIns="0" rIns="0" bIns="0">
            <a:noAutofit/>
          </a:bodyPr>
          <a:lstStyle>
            <a:lvl1pPr marL="0" indent="0" algn="l">
              <a:buNone/>
              <a:defRPr sz="3600" b="1" kern="3000" spc="-1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a:t>
            </a:r>
            <a:endParaRPr lang="en-GB"/>
          </a:p>
        </p:txBody>
      </p:sp>
      <p:sp>
        <p:nvSpPr>
          <p:cNvPr id="5" name="Footer Placeholder 4"/>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fld>
            <a:endParaRPr lang="en-GB"/>
          </a:p>
        </p:txBody>
      </p:sp>
      <p:pic>
        <p:nvPicPr>
          <p:cNvPr id="8" name="Picture 7" descr="A picture containing drawing&#10;&#10;Description automatically generated"/>
          <p:cNvPicPr>
            <a:picLocks noChangeAspect="1"/>
          </p:cNvPicPr>
          <p:nvPr userDrawn="1"/>
        </p:nvPicPr>
        <p:blipFill>
          <a:blip r:embed="rId2" cstate="print"/>
          <a:stretch>
            <a:fillRect/>
          </a:stretch>
        </p:blipFill>
        <p:spPr>
          <a:xfrm>
            <a:off x="954000" y="5511600"/>
            <a:ext cx="2242800" cy="39795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age">
    <p:bg>
      <p:bgPr>
        <a:solidFill>
          <a:schemeClr val="bg1"/>
        </a:solidFill>
        <a:effectLst/>
      </p:bgPr>
    </p:bg>
    <p:spTree>
      <p:nvGrpSpPr>
        <p:cNvPr id="1" name=""/>
        <p:cNvGrpSpPr/>
        <p:nvPr/>
      </p:nvGrpSpPr>
      <p:grpSpPr>
        <a:xfrm>
          <a:off x="0" y="0"/>
          <a:ext cx="0" cy="0"/>
          <a:chOff x="0" y="0"/>
          <a:chExt cx="0" cy="0"/>
        </a:xfrm>
      </p:grpSpPr>
      <p:sp>
        <p:nvSpPr>
          <p:cNvPr id="3" name="Subtitle 2"/>
          <p:cNvSpPr>
            <a:spLocks noGrp="1"/>
          </p:cNvSpPr>
          <p:nvPr>
            <p:ph type="subTitle" idx="1"/>
          </p:nvPr>
        </p:nvSpPr>
        <p:spPr>
          <a:xfrm>
            <a:off x="954000" y="1890000"/>
            <a:ext cx="7200000" cy="360000"/>
          </a:xfrm>
        </p:spPr>
        <p:txBody>
          <a:bodyPr lIns="0" tIns="0" rIns="0" bIns="0">
            <a:noAutofit/>
          </a:bodyPr>
          <a:lstStyle>
            <a:lvl1pPr marL="0" indent="0" algn="l">
              <a:buNone/>
              <a:defRPr sz="3600" b="1" kern="3000" spc="-1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5" name="Footer Placeholder 4"/>
          <p:cNvSpPr>
            <a:spLocks noGrp="1"/>
          </p:cNvSpPr>
          <p:nvPr>
            <p:ph type="ftr" sz="quarter" idx="11"/>
          </p:nvPr>
        </p:nvSpPr>
        <p:spPr>
          <a:xfrm>
            <a:off x="965289" y="791022"/>
            <a:ext cx="7176911" cy="230832"/>
          </a:xfrm>
        </p:spPr>
        <p:txBody>
          <a:bodyPr>
            <a:noAutofit/>
          </a:bodyPr>
          <a:lstStyle>
            <a:lvl1pPr>
              <a:defRPr>
                <a:solidFill>
                  <a:srgbClr val="8F9898"/>
                </a:solidFill>
              </a:defRPr>
            </a:lvl1pPr>
          </a:lstStyle>
          <a:p>
            <a:r>
              <a:rPr lang="en-GB"/>
              <a:t>PRESENTATION TITLE (ADD VIA INSERT, HEADER &amp; FOOTER)</a:t>
            </a:r>
            <a:endParaRPr lang="en-GB"/>
          </a:p>
        </p:txBody>
      </p:sp>
      <p:sp>
        <p:nvSpPr>
          <p:cNvPr id="6" name="Slide Number Placeholder 5"/>
          <p:cNvSpPr>
            <a:spLocks noGrp="1"/>
          </p:cNvSpPr>
          <p:nvPr>
            <p:ph type="sldNum" sz="quarter" idx="12"/>
          </p:nvPr>
        </p:nvSpPr>
        <p:spPr>
          <a:xfrm>
            <a:off x="10616400" y="791022"/>
            <a:ext cx="622800" cy="230832"/>
          </a:xfrm>
        </p:spPr>
        <p:txBody>
          <a:bodyPr wrap="square">
            <a:noAutofit/>
          </a:bodyPr>
          <a:lstStyle>
            <a:lvl1pPr>
              <a:defRPr>
                <a:solidFill>
                  <a:srgbClr val="8F9898"/>
                </a:solidFill>
              </a:defRPr>
            </a:lvl1pPr>
          </a:lstStyle>
          <a:p>
            <a:fld id="{E4D355CA-84B7-41B1-B164-8BB439CC7C6B}" type="slidenum">
              <a:rPr lang="en-GB" smtClean="0"/>
            </a:fld>
            <a:endParaRPr lang="en-GB"/>
          </a:p>
        </p:txBody>
      </p:sp>
      <p:sp>
        <p:nvSpPr>
          <p:cNvPr id="9" name="Title 1"/>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tx1"/>
                </a:solidFill>
              </a:defRPr>
            </a:lvl1pPr>
          </a:lstStyle>
          <a:p>
            <a:r>
              <a:rPr lang="en-US"/>
              <a:t>Click to edit master title</a:t>
            </a:r>
            <a:endParaRPr lang="en-GB"/>
          </a:p>
        </p:txBody>
      </p:sp>
      <p:sp>
        <p:nvSpPr>
          <p:cNvPr id="10" name="Rectangle 9"/>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pic>
        <p:nvPicPr>
          <p:cNvPr id="11" name="Picture 10"/>
          <p:cNvPicPr>
            <a:picLocks noChangeAspect="1"/>
          </p:cNvPicPr>
          <p:nvPr userDrawn="1"/>
        </p:nvPicPr>
        <p:blipFill>
          <a:blip r:embed="rId2"/>
          <a:stretch>
            <a:fillRect/>
          </a:stretch>
        </p:blipFill>
        <p:spPr>
          <a:xfrm>
            <a:off x="953998" y="5517266"/>
            <a:ext cx="2244881" cy="396903"/>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and Two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hasCustomPrompt="1"/>
          </p:nvPr>
        </p:nvSpPr>
        <p:spPr>
          <a:xfrm>
            <a:off x="973668" y="2717444"/>
            <a:ext cx="4903200"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lvl="0"/>
            <a:r>
              <a:rPr lang="en-GB"/>
              <a:t>Add Text</a:t>
            </a:r>
            <a:endParaRPr lang="en-GB"/>
          </a:p>
        </p:txBody>
      </p:sp>
      <p:sp>
        <p:nvSpPr>
          <p:cNvPr id="4" name="Content Placeholder 3"/>
          <p:cNvSpPr>
            <a:spLocks noGrp="1"/>
          </p:cNvSpPr>
          <p:nvPr>
            <p:ph sz="half" idx="2" hasCustomPrompt="1"/>
          </p:nvPr>
        </p:nvSpPr>
        <p:spPr>
          <a:xfrm>
            <a:off x="6336000" y="2717444"/>
            <a:ext cx="4456800" cy="3175200"/>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0"/>
              </a:spcAft>
              <a:buClrTx/>
              <a:buSzTx/>
              <a:buFont typeface="Arial" panose="020B0604020202020204" pitchFamily="34" charset="0"/>
              <a:buNone/>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marL="0" marR="0" lvl="0" indent="0" algn="l" defTabSz="914400" rtl="0" eaLnBrk="1" fontAlgn="auto" latinLnBrk="0" hangingPunct="1">
              <a:lnSpc>
                <a:spcPts val="2880"/>
              </a:lnSpc>
              <a:spcBef>
                <a:spcPts val="0"/>
              </a:spcBef>
              <a:spcAft>
                <a:spcPts val="990"/>
              </a:spcAft>
              <a:buClrTx/>
              <a:buSzTx/>
              <a:buFont typeface="Arial" panose="020B0604020202020204" pitchFamily="34" charset="0"/>
              <a:buNone/>
              <a:defRPr/>
            </a:pPr>
            <a:r>
              <a:rPr lang="en-GB" b="0"/>
              <a:t>Add Text</a:t>
            </a:r>
            <a:endParaRPr lang="en-GB"/>
          </a:p>
        </p:txBody>
      </p:sp>
      <p:sp>
        <p:nvSpPr>
          <p:cNvPr id="6" name="Footer Placeholder 5"/>
          <p:cNvSpPr>
            <a:spLocks noGrp="1"/>
          </p:cNvSpPr>
          <p:nvPr>
            <p:ph type="ftr" sz="quarter" idx="11"/>
          </p:nvPr>
        </p:nvSpPr>
        <p:spPr/>
        <p:txBody>
          <a:bodyPr/>
          <a:lstStyle/>
          <a:p>
            <a:r>
              <a:rPr lang="en-GB"/>
              <a:t>PRESENTATION TITLE (ADD VIA INSERT, HEADER &amp; FOOTER)</a:t>
            </a:r>
            <a:endParaRPr lang="en-GB"/>
          </a:p>
        </p:txBody>
      </p:sp>
      <p:sp>
        <p:nvSpPr>
          <p:cNvPr id="7" name="Slide Number Placeholder 6"/>
          <p:cNvSpPr>
            <a:spLocks noGrp="1"/>
          </p:cNvSpPr>
          <p:nvPr>
            <p:ph type="sldNum" sz="quarter" idx="12"/>
          </p:nvPr>
        </p:nvSpPr>
        <p:spPr/>
        <p:txBody>
          <a:bodyPr/>
          <a:lstStyle/>
          <a:p>
            <a:fld id="{E4D355CA-84B7-41B1-B164-8BB439CC7C6B}" type="slidenum">
              <a:rPr lang="en-GB" smtClean="0"/>
            </a:fld>
            <a:endParaRPr lang="en-GB"/>
          </a:p>
        </p:txBody>
      </p:sp>
      <p:sp>
        <p:nvSpPr>
          <p:cNvPr id="8" name="Rectangle 7"/>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hasCustomPrompt="1"/>
          </p:nvPr>
        </p:nvSpPr>
        <p:spPr>
          <a:xfrm>
            <a:off x="970139" y="2717600"/>
            <a:ext cx="10251722"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endParaRPr lang="en-GB"/>
          </a:p>
        </p:txBody>
      </p:sp>
      <p:sp>
        <p:nvSpPr>
          <p:cNvPr id="5" name="Footer Placeholder 4"/>
          <p:cNvSpPr>
            <a:spLocks noGrp="1"/>
          </p:cNvSpPr>
          <p:nvPr>
            <p:ph type="ftr" sz="quarter" idx="11"/>
          </p:nvPr>
        </p:nvSpPr>
        <p:spPr/>
        <p:txBody>
          <a:bodyPr/>
          <a:lstStyle/>
          <a:p>
            <a:r>
              <a:rPr lang="en-GB"/>
              <a:t>PRESENTATION TITLE (ADD VIA INSERT, HEADER &amp; FOOTER)</a:t>
            </a:r>
            <a:endParaRPr lang="en-GB"/>
          </a:p>
        </p:txBody>
      </p:sp>
      <p:sp>
        <p:nvSpPr>
          <p:cNvPr id="6" name="Slide Number Placeholder 5"/>
          <p:cNvSpPr>
            <a:spLocks noGrp="1"/>
          </p:cNvSpPr>
          <p:nvPr>
            <p:ph type="sldNum" sz="quarter" idx="12"/>
          </p:nvPr>
        </p:nvSpPr>
        <p:spPr/>
        <p:txBody>
          <a:bodyPr/>
          <a:lstStyle/>
          <a:p>
            <a:fld id="{E4D355CA-84B7-41B1-B164-8BB439CC7C6B}" type="slidenum">
              <a:rPr lang="en-GB" smtClean="0"/>
            </a:fld>
            <a:endParaRPr lang="en-GB"/>
          </a:p>
        </p:txBody>
      </p:sp>
      <p:sp>
        <p:nvSpPr>
          <p:cNvPr id="7" name="Rectangle 6"/>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Large">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54000" y="775255"/>
            <a:ext cx="7361569" cy="365125"/>
          </a:xfrm>
        </p:spPr>
        <p:txBody>
          <a:bodyPr/>
          <a:lstStyle/>
          <a:p>
            <a:r>
              <a:rPr lang="en-US"/>
              <a:t>Click to add title.</a:t>
            </a:r>
            <a:endParaRPr lang="en-GB"/>
          </a:p>
        </p:txBody>
      </p:sp>
      <p:sp>
        <p:nvSpPr>
          <p:cNvPr id="3" name="Content Placeholder 2"/>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endParaRPr lang="en-GB"/>
          </a:p>
        </p:txBody>
      </p:sp>
      <p:sp>
        <p:nvSpPr>
          <p:cNvPr id="6" name="Slide Number Placeholder 5"/>
          <p:cNvSpPr>
            <a:spLocks noGrp="1"/>
          </p:cNvSpPr>
          <p:nvPr>
            <p:ph type="sldNum" sz="quarter" idx="12"/>
          </p:nvPr>
        </p:nvSpPr>
        <p:spPr/>
        <p:txBody>
          <a:bodyPr/>
          <a:lstStyle/>
          <a:p>
            <a:fld id="{E4D355CA-84B7-41B1-B164-8BB439CC7C6B}" type="slidenum">
              <a:rPr lang="en-GB" smtClean="0"/>
            </a:fld>
            <a:endParaRPr lang="en-GB"/>
          </a:p>
        </p:txBody>
      </p:sp>
      <p:sp>
        <p:nvSpPr>
          <p:cNvPr id="7" name="Rectangle 6"/>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Large blue">
    <p:bg>
      <p:bgPr>
        <a:solidFill>
          <a:schemeClr val="accent1"/>
        </a:solidFill>
        <a:effectLst/>
      </p:bgPr>
    </p:bg>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lvl1pPr>
              <a:defRPr>
                <a:solidFill>
                  <a:schemeClr val="bg1"/>
                </a:solidFill>
              </a:defRPr>
            </a:lvl1pPr>
          </a:lstStyle>
          <a:p>
            <a:fld id="{E4D355CA-84B7-41B1-B164-8BB439CC7C6B}" type="slidenum">
              <a:rPr lang="en-GB" smtClean="0"/>
            </a:fld>
            <a:endParaRPr lang="en-GB"/>
          </a:p>
        </p:txBody>
      </p:sp>
      <p:sp>
        <p:nvSpPr>
          <p:cNvPr id="8" name="Content Placeholder 2"/>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chemeClr val="bg1"/>
                </a:solidFill>
              </a:defRPr>
            </a:lvl1pPr>
            <a:lvl2pPr>
              <a:defRPr lang="en-US" dirty="0" smtClean="0">
                <a:solidFill>
                  <a:schemeClr val="bg1"/>
                </a:solidFill>
              </a:defRPr>
            </a:lvl2pPr>
            <a:lvl3pPr>
              <a:defRPr lang="en-GB" dirty="0">
                <a:solidFill>
                  <a:schemeClr val="bg1"/>
                </a:solidFill>
              </a:defRPr>
            </a:lvl3pPr>
            <a:lvl4pPr>
              <a:defRPr>
                <a:solidFill>
                  <a:schemeClr val="bg1"/>
                </a:solidFill>
              </a:defRPr>
            </a:lvl4pPr>
            <a:lvl5pPr>
              <a:defRPr>
                <a:solidFill>
                  <a:schemeClr val="bg1"/>
                </a:solidFill>
              </a:defRPr>
            </a:lvl5pPr>
          </a:lstStyle>
          <a:p>
            <a:pPr lvl="0"/>
            <a:r>
              <a:rPr lang="en-US"/>
              <a:t>Add Text</a:t>
            </a:r>
            <a:endParaRPr lang="en-GB"/>
          </a:p>
        </p:txBody>
      </p:sp>
      <p:sp>
        <p:nvSpPr>
          <p:cNvPr id="5" name="Title 1"/>
          <p:cNvSpPr>
            <a:spLocks noGrp="1"/>
          </p:cNvSpPr>
          <p:nvPr>
            <p:ph type="title" hasCustomPrompt="1"/>
          </p:nvPr>
        </p:nvSpPr>
        <p:spPr>
          <a:xfrm>
            <a:off x="954000" y="775255"/>
            <a:ext cx="7361569" cy="365125"/>
          </a:xfrm>
        </p:spPr>
        <p:txBody>
          <a:bodyPr/>
          <a:lstStyle>
            <a:lvl1pPr>
              <a:defRPr>
                <a:solidFill>
                  <a:schemeClr val="bg1"/>
                </a:solidFill>
              </a:defRPr>
            </a:lvl1pPr>
          </a:lstStyle>
          <a:p>
            <a:r>
              <a:rPr lang="en-US"/>
              <a:t>Click to add title.</a:t>
            </a:r>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 Image +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4" name="Content Placeholder 3"/>
          <p:cNvSpPr>
            <a:spLocks noGrp="1"/>
          </p:cNvSpPr>
          <p:nvPr>
            <p:ph sz="half" idx="2" hasCustomPrompt="1"/>
          </p:nvPr>
        </p:nvSpPr>
        <p:spPr>
          <a:xfrm>
            <a:off x="7835952" y="2728800"/>
            <a:ext cx="2959200"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GB" spc="-100" baseline="0" dirty="0"/>
            </a:lvl4pPr>
            <a:lvl5pPr>
              <a:defRPr spc="-100" baseline="0">
                <a:solidFill>
                  <a:schemeClr val="accent4"/>
                </a:solidFill>
              </a:defRPr>
            </a:lvl5pPr>
          </a:lstStyle>
          <a:p>
            <a:pPr lvl="0"/>
            <a:r>
              <a:rPr lang="en-GB" b="0"/>
              <a:t>Add Text</a:t>
            </a:r>
            <a:endParaRPr lang="en-GB"/>
          </a:p>
        </p:txBody>
      </p:sp>
      <p:sp>
        <p:nvSpPr>
          <p:cNvPr id="6" name="Footer Placeholder 5"/>
          <p:cNvSpPr>
            <a:spLocks noGrp="1"/>
          </p:cNvSpPr>
          <p:nvPr>
            <p:ph type="ftr" sz="quarter" idx="11"/>
          </p:nvPr>
        </p:nvSpPr>
        <p:spPr/>
        <p:txBody>
          <a:bodyPr/>
          <a:lstStyle/>
          <a:p>
            <a:r>
              <a:rPr lang="en-GB"/>
              <a:t>PRESENTATION TITLE (ADD VIA INSERT, HEADER &amp; FOOTER)</a:t>
            </a:r>
            <a:endParaRPr lang="en-GB"/>
          </a:p>
        </p:txBody>
      </p:sp>
      <p:sp>
        <p:nvSpPr>
          <p:cNvPr id="7" name="Slide Number Placeholder 6"/>
          <p:cNvSpPr>
            <a:spLocks noGrp="1"/>
          </p:cNvSpPr>
          <p:nvPr>
            <p:ph type="sldNum" sz="quarter" idx="12"/>
          </p:nvPr>
        </p:nvSpPr>
        <p:spPr/>
        <p:txBody>
          <a:bodyPr/>
          <a:lstStyle/>
          <a:p>
            <a:fld id="{E4D355CA-84B7-41B1-B164-8BB439CC7C6B}" type="slidenum">
              <a:rPr lang="en-GB" smtClean="0"/>
            </a:fld>
            <a:endParaRPr lang="en-GB"/>
          </a:p>
        </p:txBody>
      </p:sp>
      <p:sp>
        <p:nvSpPr>
          <p:cNvPr id="10" name="Picture Placeholder 9"/>
          <p:cNvSpPr>
            <a:spLocks noGrp="1"/>
          </p:cNvSpPr>
          <p:nvPr>
            <p:ph type="pic" sz="quarter" idx="13"/>
          </p:nvPr>
        </p:nvSpPr>
        <p:spPr>
          <a:xfrm>
            <a:off x="954088" y="2728913"/>
            <a:ext cx="6400800" cy="4129087"/>
          </a:xfrm>
        </p:spPr>
        <p:txBody>
          <a:bodyPr/>
          <a:lstStyle/>
          <a:p>
            <a:endParaRPr lang="en-GB"/>
          </a:p>
        </p:txBody>
      </p:sp>
      <p:sp>
        <p:nvSpPr>
          <p:cNvPr id="11" name="Rectangle 10"/>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Content + 2 Images">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6" name="Footer Placeholder 5"/>
          <p:cNvSpPr>
            <a:spLocks noGrp="1"/>
          </p:cNvSpPr>
          <p:nvPr>
            <p:ph type="ftr" sz="quarter" idx="11"/>
          </p:nvPr>
        </p:nvSpPr>
        <p:spPr/>
        <p:txBody>
          <a:bodyPr/>
          <a:lstStyle/>
          <a:p>
            <a:r>
              <a:rPr lang="en-GB"/>
              <a:t>PRESENTATION TITLE (ADD VIA INSERT, HEADER &amp; FOOTER)</a:t>
            </a:r>
            <a:endParaRPr lang="en-GB"/>
          </a:p>
        </p:txBody>
      </p:sp>
      <p:sp>
        <p:nvSpPr>
          <p:cNvPr id="7" name="Slide Number Placeholder 6"/>
          <p:cNvSpPr>
            <a:spLocks noGrp="1"/>
          </p:cNvSpPr>
          <p:nvPr>
            <p:ph type="sldNum" sz="quarter" idx="12"/>
          </p:nvPr>
        </p:nvSpPr>
        <p:spPr/>
        <p:txBody>
          <a:bodyPr/>
          <a:lstStyle/>
          <a:p>
            <a:fld id="{E4D355CA-84B7-41B1-B164-8BB439CC7C6B}" type="slidenum">
              <a:rPr lang="en-GB" smtClean="0"/>
            </a:fld>
            <a:endParaRPr lang="en-GB"/>
          </a:p>
        </p:txBody>
      </p:sp>
      <p:sp>
        <p:nvSpPr>
          <p:cNvPr id="8" name="Rectangle 7"/>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Content Placeholder 9"/>
          <p:cNvSpPr>
            <a:spLocks noGrp="1"/>
          </p:cNvSpPr>
          <p:nvPr>
            <p:ph sz="quarter" idx="13" hasCustomPrompt="1"/>
          </p:nvPr>
        </p:nvSpPr>
        <p:spPr>
          <a:xfrm>
            <a:off x="953999"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9" name="Content Placeholder 9"/>
          <p:cNvSpPr>
            <a:spLocks noGrp="1"/>
          </p:cNvSpPr>
          <p:nvPr>
            <p:ph sz="quarter" idx="14" hasCustomPrompt="1"/>
          </p:nvPr>
        </p:nvSpPr>
        <p:spPr>
          <a:xfrm>
            <a:off x="8278804"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11" name="Content Placeholder 9"/>
          <p:cNvSpPr>
            <a:spLocks noGrp="1"/>
          </p:cNvSpPr>
          <p:nvPr>
            <p:ph sz="quarter" idx="15" hasCustomPrompt="1"/>
          </p:nvPr>
        </p:nvSpPr>
        <p:spPr>
          <a:xfrm>
            <a:off x="4613975"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ull Bleed Image">
    <p:bg>
      <p:bgPr>
        <a:solidFill>
          <a:schemeClr val="accent1"/>
        </a:solidFill>
        <a:effectLst/>
      </p:bgPr>
    </p:bg>
    <p:spTree>
      <p:nvGrpSpPr>
        <p:cNvPr id="1" name=""/>
        <p:cNvGrpSpPr/>
        <p:nvPr/>
      </p:nvGrpSpPr>
      <p:grpSpPr>
        <a:xfrm>
          <a:off x="0" y="0"/>
          <a:ext cx="0" cy="0"/>
          <a:chOff x="0" y="0"/>
          <a:chExt cx="0" cy="0"/>
        </a:xfrm>
      </p:grpSpPr>
      <p:sp>
        <p:nvSpPr>
          <p:cNvPr id="3" name="Picture Placeholder 2"/>
          <p:cNvSpPr>
            <a:spLocks noGrp="1"/>
          </p:cNvSpPr>
          <p:nvPr>
            <p:ph type="pic" sz="quarter" idx="10" hasCustomPrompt="1"/>
          </p:nvPr>
        </p:nvSpPr>
        <p:spPr>
          <a:xfrm>
            <a:off x="0" y="0"/>
            <a:ext cx="12192000" cy="6858000"/>
          </a:xfrm>
        </p:spPr>
        <p:txBody>
          <a:bodyPr/>
          <a:lstStyle>
            <a:lvl1pPr>
              <a:defRPr>
                <a:solidFill>
                  <a:schemeClr val="bg1"/>
                </a:solidFill>
              </a:defRPr>
            </a:lvl1pPr>
          </a:lstStyle>
          <a:p>
            <a:r>
              <a:rPr lang="en-US"/>
              <a:t>Picture</a:t>
            </a:r>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Video">
    <p:bg>
      <p:bgPr>
        <a:solidFill>
          <a:schemeClr val="accent1"/>
        </a:solidFill>
        <a:effectLst/>
      </p:bgPr>
    </p:bg>
    <p:spTree>
      <p:nvGrpSpPr>
        <p:cNvPr id="1" name=""/>
        <p:cNvGrpSpPr/>
        <p:nvPr/>
      </p:nvGrpSpPr>
      <p:grpSpPr>
        <a:xfrm>
          <a:off x="0" y="0"/>
          <a:ext cx="0" cy="0"/>
          <a:chOff x="0" y="0"/>
          <a:chExt cx="0" cy="0"/>
        </a:xfrm>
      </p:grpSpPr>
      <p:sp>
        <p:nvSpPr>
          <p:cNvPr id="9" name="Media Placeholder 8"/>
          <p:cNvSpPr>
            <a:spLocks noGrp="1"/>
          </p:cNvSpPr>
          <p:nvPr>
            <p:ph type="media" sz="quarter" idx="10"/>
          </p:nvPr>
        </p:nvSpPr>
        <p:spPr>
          <a:xfrm>
            <a:off x="140400" y="140400"/>
            <a:ext cx="11916000" cy="6580800"/>
          </a:xfrm>
          <a:solidFill>
            <a:schemeClr val="bg1"/>
          </a:solidFill>
        </p:spPr>
        <p:txBody>
          <a:bodyPr/>
          <a:lstStyle/>
          <a:p>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showMasterSp="0" userDrawn="1">
  <p:cSld name="Icons and text">
    <p:bg>
      <p:bgPr>
        <a:solidFill>
          <a:schemeClr val="bg1"/>
        </a:solidFill>
        <a:effectLst/>
      </p:bgPr>
    </p:bg>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GB"/>
              <a:t>PRESENTATION TITLE (ADD VIA INSERT, HEADER &amp; FOOTER)</a:t>
            </a:r>
            <a:endParaRPr lang="en-GB"/>
          </a:p>
        </p:txBody>
      </p:sp>
      <p:sp>
        <p:nvSpPr>
          <p:cNvPr id="6" name="Slide Number Placeholder 5"/>
          <p:cNvSpPr>
            <a:spLocks noGrp="1"/>
          </p:cNvSpPr>
          <p:nvPr>
            <p:ph type="sldNum" sz="quarter" idx="12"/>
          </p:nvPr>
        </p:nvSpPr>
        <p:spPr/>
        <p:txBody>
          <a:bodyPr/>
          <a:lstStyle/>
          <a:p>
            <a:fld id="{E4D355CA-84B7-41B1-B164-8BB439CC7C6B}" type="slidenum">
              <a:rPr lang="en-GB" smtClean="0"/>
            </a:fld>
            <a:endParaRPr lang="en-GB"/>
          </a:p>
        </p:txBody>
      </p:sp>
      <p:sp>
        <p:nvSpPr>
          <p:cNvPr id="7" name="Rectangle 6"/>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Content Placeholder 2"/>
          <p:cNvSpPr>
            <a:spLocks noGrp="1"/>
          </p:cNvSpPr>
          <p:nvPr>
            <p:ph idx="18" hasCustomPrompt="1"/>
          </p:nvPr>
        </p:nvSpPr>
        <p:spPr>
          <a:xfrm>
            <a:off x="970139" y="4079342"/>
            <a:ext cx="3144661" cy="2252134"/>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endParaRPr lang="en-GB"/>
          </a:p>
        </p:txBody>
      </p:sp>
      <p:sp>
        <p:nvSpPr>
          <p:cNvPr id="17" name="Content Placeholder 2"/>
          <p:cNvSpPr>
            <a:spLocks noGrp="1"/>
          </p:cNvSpPr>
          <p:nvPr>
            <p:ph idx="19" hasCustomPrompt="1"/>
          </p:nvPr>
        </p:nvSpPr>
        <p:spPr>
          <a:xfrm>
            <a:off x="8077200"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0"/>
              </a:spcAft>
              <a:buClrTx/>
              <a:buSzTx/>
              <a:buFont typeface="Arial" panose="020B0604020202020204" pitchFamily="34" charset="0"/>
              <a:buNone/>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0"/>
              </a:spcAft>
              <a:buClrTx/>
              <a:buSzTx/>
              <a:buFont typeface="Arial" panose="020B0604020202020204" pitchFamily="34" charset="0"/>
              <a:buNone/>
              <a:defRPr/>
            </a:pPr>
            <a:r>
              <a:rPr lang="en-GB"/>
              <a:t>Add </a:t>
            </a:r>
            <a:r>
              <a:rPr lang="en-US"/>
              <a:t>Text</a:t>
            </a:r>
            <a:endParaRPr lang="en-GB"/>
          </a:p>
        </p:txBody>
      </p:sp>
      <p:sp>
        <p:nvSpPr>
          <p:cNvPr id="18" name="Content Placeholder 2"/>
          <p:cNvSpPr>
            <a:spLocks noGrp="1"/>
          </p:cNvSpPr>
          <p:nvPr>
            <p:ph idx="20" hasCustomPrompt="1"/>
          </p:nvPr>
        </p:nvSpPr>
        <p:spPr>
          <a:xfrm>
            <a:off x="4523669"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0"/>
              </a:spcAft>
              <a:buClrTx/>
              <a:buSzTx/>
              <a:buFont typeface="Arial" panose="020B0604020202020204" pitchFamily="34" charset="0"/>
              <a:buNone/>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0"/>
              </a:spcAft>
              <a:buClrTx/>
              <a:buSzTx/>
              <a:buFont typeface="Arial" panose="020B0604020202020204" pitchFamily="34" charset="0"/>
              <a:buNone/>
              <a:defRPr/>
            </a:pPr>
            <a:r>
              <a:rPr lang="en-GB"/>
              <a:t>Add </a:t>
            </a:r>
            <a:r>
              <a:rPr lang="en-US"/>
              <a:t>Text</a:t>
            </a:r>
            <a:endParaRPr lang="en-US"/>
          </a:p>
        </p:txBody>
      </p:sp>
      <p:sp>
        <p:nvSpPr>
          <p:cNvPr id="8" name="Picture Placeholder 7"/>
          <p:cNvSpPr>
            <a:spLocks noGrp="1"/>
          </p:cNvSpPr>
          <p:nvPr>
            <p:ph type="pic" sz="quarter" idx="23"/>
          </p:nvPr>
        </p:nvSpPr>
        <p:spPr>
          <a:xfrm>
            <a:off x="1462175" y="1640942"/>
            <a:ext cx="2160587" cy="2160588"/>
          </a:xfrm>
        </p:spPr>
        <p:txBody>
          <a:bodyPr/>
          <a:lstStyle/>
          <a:p>
            <a:endParaRPr lang="en-US"/>
          </a:p>
        </p:txBody>
      </p:sp>
      <p:sp>
        <p:nvSpPr>
          <p:cNvPr id="20" name="Picture Placeholder 7"/>
          <p:cNvSpPr>
            <a:spLocks noGrp="1"/>
          </p:cNvSpPr>
          <p:nvPr>
            <p:ph type="pic" sz="quarter" idx="24"/>
          </p:nvPr>
        </p:nvSpPr>
        <p:spPr>
          <a:xfrm>
            <a:off x="5015705" y="1640942"/>
            <a:ext cx="2160587" cy="2160588"/>
          </a:xfrm>
        </p:spPr>
        <p:txBody>
          <a:bodyPr/>
          <a:lstStyle/>
          <a:p>
            <a:endParaRPr lang="en-US"/>
          </a:p>
        </p:txBody>
      </p:sp>
      <p:sp>
        <p:nvSpPr>
          <p:cNvPr id="21" name="Picture Placeholder 7"/>
          <p:cNvSpPr>
            <a:spLocks noGrp="1"/>
          </p:cNvSpPr>
          <p:nvPr>
            <p:ph type="pic" sz="quarter" idx="25"/>
          </p:nvPr>
        </p:nvSpPr>
        <p:spPr>
          <a:xfrm>
            <a:off x="8569236" y="1640942"/>
            <a:ext cx="2160587" cy="2160588"/>
          </a:xfrm>
        </p:spPr>
        <p:txBody>
          <a:bodyPr/>
          <a:lstStyle/>
          <a:p>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End page">
    <p:bg>
      <p:bgPr>
        <a:solidFill>
          <a:schemeClr val="accent1"/>
        </a:solidFill>
        <a:effectLst/>
      </p:bgPr>
    </p:bg>
    <p:spTree>
      <p:nvGrpSpPr>
        <p:cNvPr id="1" name=""/>
        <p:cNvGrpSpPr/>
        <p:nvPr/>
      </p:nvGrpSpPr>
      <p:grpSpPr>
        <a:xfrm>
          <a:off x="0" y="0"/>
          <a:ext cx="0" cy="0"/>
          <a:chOff x="0" y="0"/>
          <a:chExt cx="0" cy="0"/>
        </a:xfrm>
      </p:grpSpPr>
      <p:pic>
        <p:nvPicPr>
          <p:cNvPr id="7" name="Picture 6"/>
          <p:cNvPicPr>
            <a:picLocks noChangeAspect="1"/>
          </p:cNvPicPr>
          <p:nvPr userDrawn="1"/>
        </p:nvPicPr>
        <p:blipFill>
          <a:blip r:embed="rId2" cstate="print"/>
          <a:srcRect/>
          <a:stretch>
            <a:fillRect/>
          </a:stretch>
        </p:blipFill>
        <p:spPr>
          <a:xfrm>
            <a:off x="954002" y="5511600"/>
            <a:ext cx="2242795" cy="397958"/>
          </a:xfrm>
          <a:prstGeom prst="rect">
            <a:avLst/>
          </a:prstGeom>
        </p:spPr>
      </p:pic>
      <p:sp>
        <p:nvSpPr>
          <p:cNvPr id="2" name="Title 1"/>
          <p:cNvSpPr>
            <a:spLocks noGrp="1"/>
          </p:cNvSpPr>
          <p:nvPr>
            <p:ph type="ctrTitle"/>
          </p:nvPr>
        </p:nvSpPr>
        <p:spPr>
          <a:xfrm>
            <a:off x="926844" y="1964352"/>
            <a:ext cx="11828559" cy="1051570"/>
          </a:xfrm>
        </p:spPr>
        <p:txBody>
          <a:bodyPr vert="horz" wrap="none" lIns="0" tIns="0" rIns="0" bIns="0" rtlCol="0" anchor="t" anchorCtr="0">
            <a:noAutofit/>
          </a:bodyPr>
          <a:lstStyle>
            <a:lvl1pPr>
              <a:lnSpc>
                <a:spcPct val="100000"/>
              </a:lnSpc>
              <a:defRPr lang="en-GB" sz="7385" spc="-300" baseline="0" dirty="0">
                <a:solidFill>
                  <a:schemeClr val="bg1"/>
                </a:solidFill>
              </a:defRPr>
            </a:lvl1pPr>
          </a:lstStyle>
          <a:p>
            <a:pPr lvl="0">
              <a:lnSpc>
                <a:spcPts val="8185"/>
              </a:lnSpc>
            </a:pPr>
            <a:r>
              <a:rPr lang="en-US"/>
              <a:t>Click to edit Master title style</a:t>
            </a:r>
            <a:endParaRPr lang="en-GB"/>
          </a:p>
        </p:txBody>
      </p:sp>
      <p:sp>
        <p:nvSpPr>
          <p:cNvPr id="5" name="Footer Placeholder 4"/>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4" Type="http://schemas.openxmlformats.org/officeDocument/2006/relationships/theme" Target="../theme/theme1.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54000" y="1890000"/>
            <a:ext cx="10279150" cy="365125"/>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p:cNvSpPr>
            <a:spLocks noGrp="1"/>
          </p:cNvSpPr>
          <p:nvPr>
            <p:ph type="body" idx="1"/>
          </p:nvPr>
        </p:nvSpPr>
        <p:spPr>
          <a:xfrm>
            <a:off x="970139" y="2717600"/>
            <a:ext cx="10279150" cy="3175200"/>
          </a:xfrm>
          <a:prstGeom prst="rect">
            <a:avLst/>
          </a:prstGeom>
        </p:spPr>
        <p:txBody>
          <a:bodyPr vert="horz" lIns="0" tIns="0" rIns="0" bIns="0" rtlCol="0">
            <a:no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GB"/>
              <a:t>Fourth level</a:t>
            </a:r>
            <a:endParaRPr lang="en-GB"/>
          </a:p>
          <a:p>
            <a:pPr lvl="4"/>
            <a:r>
              <a:rPr lang="en-GB" b="1"/>
              <a:t>Fifth level</a:t>
            </a:r>
            <a:endParaRPr lang="en-GB"/>
          </a:p>
        </p:txBody>
      </p:sp>
      <p:sp>
        <p:nvSpPr>
          <p:cNvPr id="5" name="Footer Placeholder 4"/>
          <p:cNvSpPr>
            <a:spLocks noGrp="1"/>
          </p:cNvSpPr>
          <p:nvPr>
            <p:ph type="ftr" sz="quarter" idx="3"/>
          </p:nvPr>
        </p:nvSpPr>
        <p:spPr>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r>
              <a:rPr lang="en-GB"/>
              <a:t>PRESENTATION TITLE (ADD VIA INSERT, HEADER &amp; FOOTER)</a:t>
            </a:r>
            <a:endParaRPr lang="en-GB"/>
          </a:p>
        </p:txBody>
      </p:sp>
      <p:sp>
        <p:nvSpPr>
          <p:cNvPr id="6" name="Slide Number Placeholder 5"/>
          <p:cNvSpPr>
            <a:spLocks noGrp="1"/>
          </p:cNvSpPr>
          <p:nvPr>
            <p:ph type="sldNum" sz="quarter" idx="4"/>
          </p:nvPr>
        </p:nvSpPr>
        <p:spPr>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fld id="{E4D355CA-84B7-41B1-B164-8BB439CC7C6B}" type="slidenum">
              <a:rPr lang="en-GB" smtClean="0"/>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dt="0"/>
  <p:txStyles>
    <p:titleStyle>
      <a:lvl1pPr algn="l" defTabSz="914400" rtl="0" eaLnBrk="1" latinLnBrk="0" hangingPunct="1">
        <a:lnSpc>
          <a:spcPts val="3600"/>
        </a:lnSpc>
        <a:spcBef>
          <a:spcPct val="0"/>
        </a:spcBef>
        <a:buNone/>
        <a:defRPr sz="3600" b="1" kern="2000" spc="-100" baseline="0">
          <a:solidFill>
            <a:srgbClr val="203232"/>
          </a:solidFill>
          <a:latin typeface="+mj-lt"/>
          <a:ea typeface="+mj-ea"/>
          <a:cs typeface="+mj-cs"/>
        </a:defRPr>
      </a:lvl1pPr>
    </p:titleStyle>
    <p:bodyStyle>
      <a:lvl1pPr marL="0" indent="0" algn="l" defTabSz="914400" rtl="0" eaLnBrk="1" latinLnBrk="0" hangingPunct="1">
        <a:lnSpc>
          <a:spcPts val="2880"/>
        </a:lnSpc>
        <a:spcBef>
          <a:spcPts val="0"/>
        </a:spcBef>
        <a:spcAft>
          <a:spcPts val="990"/>
        </a:spcAft>
        <a:buFont typeface="Arial" panose="020B0604020202020204" pitchFamily="34" charset="0"/>
        <a:buNone/>
        <a:defRPr sz="2400" b="1" kern="2000" spc="-100" baseline="0">
          <a:solidFill>
            <a:srgbClr val="203232"/>
          </a:solidFill>
          <a:latin typeface="+mn-lt"/>
          <a:ea typeface="+mn-ea"/>
          <a:cs typeface="+mn-cs"/>
        </a:defRPr>
      </a:lvl1pPr>
      <a:lvl2pPr marL="0" indent="0" algn="l" defTabSz="914400" rtl="0" eaLnBrk="1" latinLnBrk="0" hangingPunct="1">
        <a:lnSpc>
          <a:spcPts val="2880"/>
        </a:lnSpc>
        <a:spcBef>
          <a:spcPts val="0"/>
        </a:spcBef>
        <a:spcAft>
          <a:spcPts val="990"/>
        </a:spcAft>
        <a:buFont typeface="Arial" panose="020B0604020202020204" pitchFamily="34" charset="0"/>
        <a:buNone/>
        <a:defRPr sz="2400" kern="2000" spc="-100" baseline="0">
          <a:solidFill>
            <a:srgbClr val="203232"/>
          </a:solidFill>
          <a:latin typeface="+mn-lt"/>
          <a:ea typeface="+mn-ea"/>
          <a:cs typeface="+mn-cs"/>
        </a:defRPr>
      </a:lvl2pPr>
      <a:lvl3pPr marL="215900" indent="-215900" algn="l" defTabSz="914400" rtl="0" eaLnBrk="1" latinLnBrk="0" hangingPunct="1">
        <a:lnSpc>
          <a:spcPts val="2880"/>
        </a:lnSpc>
        <a:spcBef>
          <a:spcPts val="0"/>
        </a:spcBef>
        <a:spcAft>
          <a:spcPts val="990"/>
        </a:spcAft>
        <a:buFont typeface="Arial" panose="020B0604020202020204" pitchFamily="34" charset="0"/>
        <a:buChar char="■"/>
        <a:defRPr sz="2400" kern="2000" spc="-100" baseline="0">
          <a:solidFill>
            <a:srgbClr val="203232"/>
          </a:solidFill>
          <a:latin typeface="+mn-lt"/>
          <a:ea typeface="+mn-ea"/>
          <a:cs typeface="+mn-cs"/>
        </a:defRPr>
      </a:lvl3pPr>
      <a:lvl4pPr marL="0" indent="0" algn="l" defTabSz="914400" rtl="0" eaLnBrk="1" latinLnBrk="0" hangingPunct="1">
        <a:lnSpc>
          <a:spcPts val="2160"/>
        </a:lnSpc>
        <a:spcBef>
          <a:spcPts val="0"/>
        </a:spcBef>
        <a:buFont typeface="Arial" panose="020B0604020202020204" pitchFamily="34" charset="0"/>
        <a:buNone/>
        <a:defRPr sz="1800" kern="1200">
          <a:solidFill>
            <a:srgbClr val="203232"/>
          </a:solidFill>
          <a:latin typeface="+mn-lt"/>
          <a:ea typeface="+mn-ea"/>
          <a:cs typeface="+mn-cs"/>
        </a:defRPr>
      </a:lvl4pPr>
      <a:lvl5pPr marL="0" indent="0" algn="l" defTabSz="914400" rtl="0" eaLnBrk="1" latinLnBrk="0" hangingPunct="1">
        <a:lnSpc>
          <a:spcPts val="2160"/>
        </a:lnSpc>
        <a:spcBef>
          <a:spcPts val="0"/>
        </a:spcBef>
        <a:buFont typeface="Arial" panose="020B0604020202020204" pitchFamily="34" charset="0"/>
        <a:buNone/>
        <a:defRPr sz="1800" b="1" kern="1200">
          <a:solidFill>
            <a:srgbClr val="20323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xml"/><Relationship Id="rId1"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p:cNvSpPr>
            <a:spLocks noGrp="1"/>
          </p:cNvSpPr>
          <p:nvPr>
            <p:ph type="subTitle" idx="1"/>
          </p:nvPr>
        </p:nvSpPr>
        <p:spPr>
          <a:xfrm>
            <a:off x="952800" y="699736"/>
            <a:ext cx="10273911" cy="533111"/>
          </a:xfrm>
        </p:spPr>
        <p:txBody>
          <a:bodyPr/>
          <a:lstStyle/>
          <a:p>
            <a:r>
              <a:rPr lang="en-GB"/>
              <a:t>Instructions for the Research Question Demos</a:t>
            </a:r>
            <a:endParaRPr lang="en-GB"/>
          </a:p>
        </p:txBody>
      </p:sp>
      <p:sp>
        <p:nvSpPr>
          <p:cNvPr id="4" name="Slide Number Placeholder 3"/>
          <p:cNvSpPr>
            <a:spLocks noGrp="1"/>
          </p:cNvSpPr>
          <p:nvPr>
            <p:ph type="sldNum" sz="quarter" idx="12"/>
          </p:nvPr>
        </p:nvSpPr>
        <p:spPr/>
        <p:txBody>
          <a:bodyPr/>
          <a:lstStyle/>
          <a:p>
            <a:fld id="{E4D355CA-84B7-41B1-B164-8BB439CC7C6B}" type="slidenum">
              <a:rPr lang="en-GB" smtClean="0"/>
            </a:fld>
            <a:endParaRPr lang="en-GB"/>
          </a:p>
        </p:txBody>
      </p:sp>
      <p:sp>
        <p:nvSpPr>
          <p:cNvPr id="6" name="TextBox 5"/>
          <p:cNvSpPr txBox="1"/>
          <p:nvPr/>
        </p:nvSpPr>
        <p:spPr>
          <a:xfrm>
            <a:off x="388578" y="1310979"/>
            <a:ext cx="11486747" cy="5355312"/>
          </a:xfrm>
          <a:prstGeom prst="rect">
            <a:avLst/>
          </a:prstGeom>
          <a:solidFill>
            <a:schemeClr val="bg1"/>
          </a:solidFill>
        </p:spPr>
        <p:txBody>
          <a:bodyPr wrap="square" lIns="91440" tIns="45720" rIns="91440" bIns="45720" rtlCol="0" anchor="t">
            <a:spAutoFit/>
          </a:bodyPr>
          <a:lstStyle/>
          <a:p>
            <a:r>
              <a:rPr lang="en-GB" dirty="0"/>
              <a:t>You have 5 minutes to present – be ready to share your screen, present slides in "full screen / presentation mode". Practice first. We can only offer you one opportunity to present your Research Question, so please make the most of this opportunity to help you pass coursework 2. </a:t>
            </a:r>
            <a:endParaRPr lang="en-GB" dirty="0"/>
          </a:p>
          <a:p>
            <a:endParaRPr lang="en-GB" dirty="0"/>
          </a:p>
          <a:p>
            <a:r>
              <a:rPr lang="en-GB" dirty="0">
                <a:solidFill>
                  <a:srgbClr val="FF0000"/>
                </a:solidFill>
              </a:rPr>
              <a:t>Research Questions are dependent on the variables and datatypes you have in your assigned dataset. Before you define your Research Question, your dataset dsXXXX must match your assigned Dataset, I.e., did you receive confirmation email about your allocation? Your group number must be assigned to the dataset you are referencing here.</a:t>
            </a:r>
            <a:endParaRPr lang="en-GB" dirty="0">
              <a:solidFill>
                <a:srgbClr val="FF0000"/>
              </a:solidFill>
              <a:cs typeface="Arial" panose="020B0604020202020204"/>
            </a:endParaRPr>
          </a:p>
          <a:p>
            <a:endParaRPr lang="en-GB" dirty="0">
              <a:solidFill>
                <a:srgbClr val="203232"/>
              </a:solidFill>
              <a:cs typeface="Arial" panose="020B0604020202020204"/>
            </a:endParaRPr>
          </a:p>
          <a:p>
            <a:r>
              <a:rPr lang="en-GB" dirty="0"/>
              <a:t>The next slides give you three alternatives for defining your research question and hypotheses. Select only </a:t>
            </a:r>
            <a:r>
              <a:rPr lang="en-GB" b="1" dirty="0"/>
              <a:t>one type </a:t>
            </a:r>
            <a:r>
              <a:rPr lang="en-GB" dirty="0"/>
              <a:t>of research question. </a:t>
            </a:r>
            <a:endParaRPr lang="en-GB" dirty="0"/>
          </a:p>
          <a:p>
            <a:r>
              <a:rPr lang="en-GB" dirty="0"/>
              <a:t>Before presenting DELETE </a:t>
            </a:r>
            <a:r>
              <a:rPr lang="en-GB"/>
              <a:t>all t ext</a:t>
            </a:r>
            <a:r>
              <a:rPr lang="en-GB" dirty="0"/>
              <a:t> that is either an instruction or an optionyou do not use (including this slide).   You can then enlarge your selection. Instructions for group sign up of presentation slots will be announced on Canvas and Slack. DO NOT SIGN UP unless you can attend. Ideally, all group members should attend; select one person to present, while others take notes. All group be ready to answer questions.  Any group not presenting will miss the opportunity to check a critical part of coursework 2.   Practice presenting on Teams first.</a:t>
            </a:r>
            <a:endParaRPr lang="en-GB" dirty="0">
              <a:cs typeface="Arial" panose="020B0604020202020204"/>
            </a:endParaRPr>
          </a:p>
          <a:p>
            <a:r>
              <a:rPr lang="en-GB" b="1" i="1" dirty="0"/>
              <a:t>We look forward to giving you feedback.  You will not be graded on this presentation but if you do not attend and you booked a space you are preventing someone else presenting and are going against our module values</a:t>
            </a:r>
            <a:r>
              <a:rPr lang="en-GB" dirty="0"/>
              <a:t>.  This will be reflected in your peer evaluation.</a:t>
            </a:r>
            <a:endParaRPr lang="en-GB"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US" dirty="0"/>
              <a:t>Research Question – </a:t>
            </a:r>
            <a:br>
              <a:rPr lang="en-US" dirty="0"/>
            </a:br>
            <a:r>
              <a:rPr lang="en-US" sz="4000" dirty="0"/>
              <a:t>Tutorial Presentation for Feedback</a:t>
            </a:r>
            <a:br>
              <a:rPr lang="en-US" sz="4000" dirty="0"/>
            </a:br>
            <a:r>
              <a:rPr lang="en-US" sz="2200" dirty="0"/>
              <a:t>Date:  24/11/2025</a:t>
            </a:r>
            <a:br>
              <a:rPr lang="en-US" sz="8000" dirty="0"/>
            </a:br>
            <a:endParaRPr lang="en-US" dirty="0"/>
          </a:p>
        </p:txBody>
      </p:sp>
      <p:sp>
        <p:nvSpPr>
          <p:cNvPr id="3" name="Subtitle 2"/>
          <p:cNvSpPr>
            <a:spLocks noGrp="1"/>
          </p:cNvSpPr>
          <p:nvPr>
            <p:ph type="subTitle" idx="1"/>
          </p:nvPr>
        </p:nvSpPr>
        <p:spPr/>
        <p:txBody>
          <a:bodyPr/>
          <a:lstStyle/>
          <a:p>
            <a:r>
              <a:rPr lang="en-US" sz="2000" dirty="0"/>
              <a:t>Group Name:   B 137                                                  Name of Student Presenting: Ahmed Asjal</a:t>
            </a:r>
            <a:endParaRPr lang="en-US" sz="2000" dirty="0"/>
          </a:p>
        </p:txBody>
      </p:sp>
      <p:sp>
        <p:nvSpPr>
          <p:cNvPr id="4" name="Footer Placeholder 3"/>
          <p:cNvSpPr>
            <a:spLocks noGrp="1"/>
          </p:cNvSpPr>
          <p:nvPr>
            <p:ph type="ftr" sz="quarter" idx="11"/>
          </p:nvPr>
        </p:nvSpPr>
        <p:spPr>
          <a:xfrm>
            <a:off x="965289" y="274320"/>
            <a:ext cx="10455567" cy="736245"/>
          </a:xfrm>
        </p:spPr>
        <p:txBody>
          <a:bodyPr/>
          <a:lstStyle/>
          <a:p>
            <a:r>
              <a:rPr lang="en-GB" dirty="0"/>
              <a:t>7COM1079-2025  Student Group No:   B 137         Names of Student Attendees: Mahipal, Poorni, Zaman, Ahmed &amp; Dheeraj</a:t>
            </a:r>
            <a:endParaRPr lang="en-GB"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p:cNvSpPr>
            <a:spLocks noGrp="1"/>
          </p:cNvSpPr>
          <p:nvPr>
            <p:ph type="subTitle" idx="1"/>
          </p:nvPr>
        </p:nvSpPr>
        <p:spPr>
          <a:xfrm>
            <a:off x="965289" y="1141257"/>
            <a:ext cx="9753625" cy="230832"/>
          </a:xfrm>
        </p:spPr>
        <p:txBody>
          <a:bodyPr vert="horz" lIns="0" tIns="0" rIns="0" bIns="0" rtlCol="0" anchor="t">
            <a:noAutofit/>
          </a:bodyPr>
          <a:lstStyle/>
          <a:p>
            <a:pPr>
              <a:spcAft>
                <a:spcPts val="0"/>
              </a:spcAft>
            </a:pPr>
            <a:r>
              <a:rPr lang="en-GB" sz="3200" dirty="0"/>
              <a:t>Our dataset contains detailed performance statistics for NBA players during the 2017 season</a:t>
            </a:r>
            <a:endParaRPr lang="en-GB" sz="3200" dirty="0"/>
          </a:p>
          <a:p>
            <a:pPr>
              <a:spcAft>
                <a:spcPts val="0"/>
              </a:spcAft>
            </a:pPr>
            <a:endParaRPr lang="en-GB" sz="1600" dirty="0">
              <a:solidFill>
                <a:srgbClr val="203232"/>
              </a:solidFill>
              <a:cs typeface="Arial" panose="020B0604020202020204"/>
            </a:endParaRPr>
          </a:p>
          <a:p>
            <a:pPr>
              <a:spcAft>
                <a:spcPts val="0"/>
              </a:spcAft>
            </a:pPr>
            <a:r>
              <a:rPr lang="en-GB" sz="2800" dirty="0">
                <a:solidFill>
                  <a:srgbClr val="203232"/>
                </a:solidFill>
                <a:cs typeface="Arial" panose="020B0604020202020204"/>
              </a:rPr>
              <a:t>Here is a sample of our dataset: </a:t>
            </a:r>
            <a:endParaRPr lang="en-GB" sz="1400" dirty="0">
              <a:solidFill>
                <a:srgbClr val="FF0000"/>
              </a:solidFill>
              <a:cs typeface="Arial" panose="020B0604020202020204"/>
            </a:endParaRPr>
          </a:p>
        </p:txBody>
      </p:sp>
      <p:sp>
        <p:nvSpPr>
          <p:cNvPr id="3" name="Footer Placeholder 2"/>
          <p:cNvSpPr>
            <a:spLocks noGrp="1"/>
          </p:cNvSpPr>
          <p:nvPr>
            <p:ph type="ftr" sz="quarter" idx="11"/>
          </p:nvPr>
        </p:nvSpPr>
        <p:spPr/>
        <p:txBody>
          <a:bodyPr/>
          <a:lstStyle/>
          <a:p>
            <a:r>
              <a:rPr lang="en-GB" dirty="0"/>
              <a:t>PRE 7COM1079-2025  Student Group No: B 137</a:t>
            </a:r>
            <a:endParaRPr lang="en-GB" dirty="0"/>
          </a:p>
        </p:txBody>
      </p:sp>
      <p:sp>
        <p:nvSpPr>
          <p:cNvPr id="4" name="Slide Number Placeholder 3"/>
          <p:cNvSpPr>
            <a:spLocks noGrp="1"/>
          </p:cNvSpPr>
          <p:nvPr>
            <p:ph type="sldNum" sz="quarter" idx="12"/>
          </p:nvPr>
        </p:nvSpPr>
        <p:spPr>
          <a:xfrm>
            <a:off x="10616400" y="791022"/>
            <a:ext cx="622800" cy="230832"/>
          </a:xfrm>
        </p:spPr>
        <p:txBody>
          <a:bodyPr/>
          <a:lstStyle/>
          <a:p>
            <a:r>
              <a:rPr lang="en-US"/>
              <a:t>3</a:t>
            </a:r>
            <a:endParaRPr lang="en-GB"/>
          </a:p>
        </p:txBody>
      </p:sp>
      <p:sp>
        <p:nvSpPr>
          <p:cNvPr id="8" name="Title 7"/>
          <p:cNvSpPr>
            <a:spLocks noGrp="1"/>
          </p:cNvSpPr>
          <p:nvPr>
            <p:ph type="ctrTitle"/>
          </p:nvPr>
        </p:nvSpPr>
        <p:spPr>
          <a:xfrm>
            <a:off x="1454511" y="2607443"/>
            <a:ext cx="9965844" cy="2649857"/>
          </a:xfrm>
        </p:spPr>
        <p:txBody>
          <a:bodyPr>
            <a:normAutofit fontScale="90000"/>
          </a:bodyPr>
          <a:lstStyle/>
          <a:p>
            <a:pPr marL="742950" indent="-742950">
              <a:lnSpc>
                <a:spcPts val="2880"/>
              </a:lnSpc>
              <a:spcBef>
                <a:spcPts val="0"/>
              </a:spcBef>
              <a:spcAft>
                <a:spcPts val="990"/>
              </a:spcAft>
              <a:buAutoNum type="arabicPeriod"/>
            </a:pPr>
            <a:r>
              <a:rPr lang="en-GB" sz="3600" dirty="0">
                <a:solidFill>
                  <a:srgbClr val="FF0000"/>
                </a:solidFill>
                <a:cs typeface="Arial" panose="020B0604020202020204"/>
              </a:rPr>
              <a:t>The columns/variable names: </a:t>
            </a:r>
            <a:r>
              <a:rPr lang="en-GB" sz="3600" dirty="0">
                <a:cs typeface="Arial" panose="020B0604020202020204"/>
              </a:rPr>
              <a:t>MP &amp; PS/G.</a:t>
            </a:r>
            <a:endParaRPr lang="en-US" sz="3600" b="0" dirty="0">
              <a:solidFill>
                <a:srgbClr val="FF0000"/>
              </a:solidFill>
              <a:cs typeface="Arial" panose="020B0604020202020204"/>
            </a:endParaRPr>
          </a:p>
          <a:p>
            <a:pPr marL="742950" indent="-742950">
              <a:lnSpc>
                <a:spcPts val="2880"/>
              </a:lnSpc>
              <a:spcBef>
                <a:spcPts val="0"/>
              </a:spcBef>
              <a:spcAft>
                <a:spcPts val="990"/>
              </a:spcAft>
              <a:buAutoNum type="arabicPeriod"/>
            </a:pPr>
            <a:r>
              <a:rPr lang="en-GB" sz="3600" dirty="0">
                <a:solidFill>
                  <a:srgbClr val="FF0000"/>
                </a:solidFill>
                <a:cs typeface="Arial" panose="020B0604020202020204"/>
              </a:rPr>
              <a:t>Here are first 5 rows of the data. </a:t>
            </a:r>
            <a:br>
              <a:rPr lang="en-GB" sz="3600" dirty="0">
                <a:solidFill>
                  <a:srgbClr val="FF0000"/>
                </a:solidFill>
                <a:cs typeface="Arial" panose="020B0604020202020204"/>
              </a:rPr>
            </a:br>
            <a:br>
              <a:rPr lang="en-GB" sz="3600" dirty="0">
                <a:solidFill>
                  <a:srgbClr val="FF0000"/>
                </a:solidFill>
                <a:cs typeface="Arial" panose="020B0604020202020204"/>
              </a:rPr>
            </a:br>
            <a:br>
              <a:rPr lang="en-GB" sz="3600" dirty="0">
                <a:solidFill>
                  <a:srgbClr val="FF0000"/>
                </a:solidFill>
                <a:cs typeface="Arial" panose="020B0604020202020204"/>
              </a:rPr>
            </a:br>
            <a:br>
              <a:rPr lang="en-GB" sz="3600" dirty="0">
                <a:solidFill>
                  <a:srgbClr val="FF0000"/>
                </a:solidFill>
                <a:cs typeface="Arial" panose="020B0604020202020204"/>
              </a:rPr>
            </a:br>
            <a:endParaRPr lang="en-US" sz="3600" b="0" dirty="0">
              <a:solidFill>
                <a:srgbClr val="FF0000"/>
              </a:solidFill>
              <a:cs typeface="Arial" panose="020B0604020202020204"/>
            </a:endParaRPr>
          </a:p>
          <a:p>
            <a:pPr marL="742950" indent="-742950">
              <a:lnSpc>
                <a:spcPts val="2880"/>
              </a:lnSpc>
              <a:spcBef>
                <a:spcPts val="0"/>
              </a:spcBef>
              <a:spcAft>
                <a:spcPts val="990"/>
              </a:spcAft>
              <a:buAutoNum type="arabicPeriod"/>
            </a:pPr>
            <a:r>
              <a:rPr lang="en-GB" sz="3600" dirty="0">
                <a:cs typeface="Arial" panose="020B0604020202020204"/>
              </a:rPr>
              <a:t>Our Dataset has </a:t>
            </a:r>
            <a:r>
              <a:rPr lang="en-GB" sz="3600" dirty="0">
                <a:solidFill>
                  <a:srgbClr val="FF0000"/>
                </a:solidFill>
                <a:cs typeface="Arial" panose="020B0604020202020204"/>
              </a:rPr>
              <a:t>486</a:t>
            </a:r>
            <a:r>
              <a:rPr lang="en-GB" sz="3600" dirty="0">
                <a:cs typeface="Arial" panose="020B0604020202020204"/>
              </a:rPr>
              <a:t> rows &amp; </a:t>
            </a:r>
            <a:r>
              <a:rPr lang="en-GB" sz="3600" dirty="0">
                <a:solidFill>
                  <a:schemeClr val="accent3"/>
                </a:solidFill>
                <a:cs typeface="Arial" panose="020B0604020202020204"/>
              </a:rPr>
              <a:t>30</a:t>
            </a:r>
            <a:r>
              <a:rPr lang="en-GB" sz="3600" dirty="0">
                <a:cs typeface="Arial" panose="020B0604020202020204"/>
              </a:rPr>
              <a:t> columns.</a:t>
            </a:r>
            <a:br>
              <a:rPr lang="en-GB" sz="3600" dirty="0">
                <a:solidFill>
                  <a:srgbClr val="FF0000"/>
                </a:solidFill>
                <a:cs typeface="Arial" panose="020B0604020202020204"/>
              </a:rPr>
            </a:br>
            <a:endParaRPr lang="en-GB" sz="3600" dirty="0">
              <a:solidFill>
                <a:srgbClr val="FF0000"/>
              </a:solidFill>
              <a:cs typeface="Arial" panose="020B0604020202020204"/>
            </a:endParaRPr>
          </a:p>
          <a:p>
            <a:endParaRPr lang="en-US" dirty="0">
              <a:solidFill>
                <a:srgbClr val="FF0000"/>
              </a:solidFill>
              <a:cs typeface="Arial" panose="020B0604020202020204"/>
            </a:endParaRPr>
          </a:p>
        </p:txBody>
      </p:sp>
      <p:pic>
        <p:nvPicPr>
          <p:cNvPr id="6" name="Picture 5"/>
          <p:cNvPicPr>
            <a:picLocks noChangeAspect="1"/>
          </p:cNvPicPr>
          <p:nvPr/>
        </p:nvPicPr>
        <p:blipFill>
          <a:blip r:embed="rId1"/>
          <a:stretch>
            <a:fillRect/>
          </a:stretch>
        </p:blipFill>
        <p:spPr>
          <a:xfrm>
            <a:off x="2427269" y="3429000"/>
            <a:ext cx="7089545" cy="154348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p:cNvSpPr>
            <a:spLocks noGrp="1"/>
          </p:cNvSpPr>
          <p:nvPr>
            <p:ph type="subTitle" idx="1"/>
          </p:nvPr>
        </p:nvSpPr>
        <p:spPr>
          <a:xfrm>
            <a:off x="965288" y="1285092"/>
            <a:ext cx="10110240" cy="588024"/>
          </a:xfrm>
        </p:spPr>
        <p:txBody>
          <a:bodyPr vert="horz" lIns="0" tIns="0" rIns="0" bIns="0" rtlCol="0" anchor="t">
            <a:noAutofit/>
          </a:bodyPr>
          <a:lstStyle/>
          <a:p>
            <a:r>
              <a:rPr lang="en-US" dirty="0"/>
              <a:t>Dataset </a:t>
            </a:r>
            <a:r>
              <a:rPr lang="en-US" dirty="0">
                <a:solidFill>
                  <a:srgbClr val="203232"/>
                </a:solidFill>
              </a:rPr>
              <a:t>ID</a:t>
            </a:r>
            <a:r>
              <a:rPr lang="en-US" sz="1600" dirty="0">
                <a:solidFill>
                  <a:srgbClr val="FF0000"/>
                </a:solidFill>
              </a:rPr>
              <a:t>:   </a:t>
            </a:r>
            <a:r>
              <a:rPr lang="en-US" sz="2400" dirty="0">
                <a:solidFill>
                  <a:schemeClr val="tx1"/>
                </a:solidFill>
              </a:rPr>
              <a:t>DS346 		nba_2017_br.csv</a:t>
            </a:r>
            <a:endParaRPr lang="en-US" sz="2400" dirty="0">
              <a:solidFill>
                <a:schemeClr val="tx1"/>
              </a:solidFill>
            </a:endParaRPr>
          </a:p>
        </p:txBody>
      </p:sp>
      <p:sp>
        <p:nvSpPr>
          <p:cNvPr id="3" name="Footer Placeholder 2"/>
          <p:cNvSpPr>
            <a:spLocks noGrp="1"/>
          </p:cNvSpPr>
          <p:nvPr>
            <p:ph type="ftr" sz="quarter" idx="11"/>
          </p:nvPr>
        </p:nvSpPr>
        <p:spPr>
          <a:xfrm>
            <a:off x="609600" y="791022"/>
            <a:ext cx="10717161" cy="230832"/>
          </a:xfrm>
        </p:spPr>
        <p:txBody>
          <a:bodyPr/>
          <a:lstStyle/>
          <a:p>
            <a:r>
              <a:rPr lang="en-GB" dirty="0"/>
              <a:t>7COM1079-2025  Student Group No: B137     Names of Student Group Attendees: Mahipal, Poorni, Zaman, Ahmed &amp; Dheeraj</a:t>
            </a:r>
            <a:endParaRPr lang="en-GB" dirty="0"/>
          </a:p>
        </p:txBody>
      </p:sp>
      <p:sp>
        <p:nvSpPr>
          <p:cNvPr id="4" name="Slide Number Placeholder 3"/>
          <p:cNvSpPr>
            <a:spLocks noGrp="1"/>
          </p:cNvSpPr>
          <p:nvPr>
            <p:ph type="sldNum" sz="quarter" idx="12"/>
          </p:nvPr>
        </p:nvSpPr>
        <p:spPr>
          <a:xfrm>
            <a:off x="10954512" y="555565"/>
            <a:ext cx="622800" cy="230832"/>
          </a:xfrm>
        </p:spPr>
        <p:txBody>
          <a:bodyPr/>
          <a:lstStyle/>
          <a:p>
            <a:r>
              <a:rPr lang="en-US"/>
              <a:t>2</a:t>
            </a:r>
            <a:endParaRPr lang="en-GB"/>
          </a:p>
        </p:txBody>
      </p:sp>
      <p:sp>
        <p:nvSpPr>
          <p:cNvPr id="5" name="Title 4"/>
          <p:cNvSpPr>
            <a:spLocks noGrp="1"/>
          </p:cNvSpPr>
          <p:nvPr>
            <p:ph type="ctrTitle"/>
          </p:nvPr>
        </p:nvSpPr>
        <p:spPr>
          <a:xfrm>
            <a:off x="965288" y="1698305"/>
            <a:ext cx="10974945" cy="2699181"/>
          </a:xfrm>
        </p:spPr>
        <p:txBody>
          <a:bodyPr>
            <a:noAutofit/>
          </a:bodyPr>
          <a:lstStyle/>
          <a:p>
            <a:pPr>
              <a:lnSpc>
                <a:spcPct val="100000"/>
              </a:lnSpc>
            </a:pPr>
            <a:r>
              <a:rPr lang="en-US" sz="2400" b="0" dirty="0">
                <a:latin typeface="Calibri" panose="020F0502020204030204"/>
                <a:cs typeface="Calibri" panose="020F0502020204030204"/>
              </a:rPr>
              <a:t>This dataset is interesting to us because:  It provides well quantitative information about NBA players’ performance, with which we can do statistical analysis.</a:t>
            </a:r>
            <a:br>
              <a:rPr lang="en-US" sz="2400" b="0" dirty="0">
                <a:latin typeface="Calibri" panose="020F0502020204030204" pitchFamily="34" charset="0"/>
                <a:cs typeface="Calibri" panose="020F0502020204030204" pitchFamily="34" charset="0"/>
              </a:rPr>
            </a:br>
            <a:br>
              <a:rPr lang="en-US" sz="2400" b="0" dirty="0">
                <a:latin typeface="Calibri" panose="020F0502020204030204" pitchFamily="34" charset="0"/>
                <a:cs typeface="Calibri" panose="020F0502020204030204" pitchFamily="34" charset="0"/>
              </a:rPr>
            </a:br>
            <a:r>
              <a:rPr lang="en-US" sz="2400" b="0" dirty="0">
                <a:latin typeface="Calibri" panose="020F0502020204030204"/>
                <a:cs typeface="Calibri" panose="020F0502020204030204"/>
              </a:rPr>
              <a:t>Our  Independent variable is: </a:t>
            </a:r>
            <a:r>
              <a:rPr lang="en-US" sz="2400" b="0" dirty="0">
                <a:solidFill>
                  <a:srgbClr val="FF0000"/>
                </a:solidFill>
                <a:latin typeface="Calibri" panose="020F0502020204030204"/>
                <a:cs typeface="Calibri" panose="020F0502020204030204"/>
              </a:rPr>
              <a:t>MP (Minutes Played in Game)</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panose="020F0502020204030204"/>
                <a:cs typeface="Calibri" panose="020F0502020204030204"/>
              </a:rPr>
              <a:t>                   </a:t>
            </a:r>
            <a:r>
              <a:rPr lang="en-US" sz="2400" b="0" dirty="0">
                <a:latin typeface="Calibri" panose="020F0502020204030204"/>
                <a:cs typeface="Calibri" panose="020F0502020204030204"/>
              </a:rPr>
              <a:t>This  Independent variable datatype is: </a:t>
            </a:r>
            <a:r>
              <a:rPr lang="en-US" sz="2400" b="0" dirty="0">
                <a:solidFill>
                  <a:srgbClr val="FF0000"/>
                </a:solidFill>
                <a:latin typeface="Calibri" panose="020F0502020204030204"/>
                <a:cs typeface="Calibri" panose="020F0502020204030204"/>
              </a:rPr>
              <a:t>Interval/Measurement Data</a:t>
            </a:r>
            <a:br>
              <a:rPr lang="en-US" sz="2400" b="0" dirty="0">
                <a:latin typeface="Calibri" panose="020F0502020204030204" pitchFamily="34" charset="0"/>
                <a:cs typeface="Calibri" panose="020F0502020204030204" pitchFamily="34" charset="0"/>
              </a:rPr>
            </a:br>
            <a:r>
              <a:rPr lang="en-US" sz="2400" b="0" dirty="0">
                <a:latin typeface="Calibri" panose="020F0502020204030204"/>
                <a:cs typeface="Calibri" panose="020F0502020204030204"/>
              </a:rPr>
              <a:t>Our Dependent variable is: </a:t>
            </a:r>
            <a:r>
              <a:rPr lang="en-US" sz="2400" b="0" dirty="0">
                <a:solidFill>
                  <a:srgbClr val="FF0000"/>
                </a:solidFill>
                <a:latin typeface="Calibri" panose="020F0502020204030204"/>
                <a:cs typeface="Calibri" panose="020F0502020204030204"/>
              </a:rPr>
              <a:t>PS/G (Points Scored per Game)</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panose="020F0502020204030204"/>
                <a:cs typeface="Calibri" panose="020F0502020204030204"/>
              </a:rPr>
              <a:t>                   </a:t>
            </a:r>
            <a:r>
              <a:rPr lang="en-US" sz="2400" b="0" dirty="0">
                <a:latin typeface="Calibri" panose="020F0502020204030204"/>
                <a:cs typeface="Calibri" panose="020F0502020204030204"/>
              </a:rPr>
              <a:t>This Dependent variable datatype is  (select one): </a:t>
            </a:r>
            <a:r>
              <a:rPr lang="en-US" sz="2400" b="0" dirty="0">
                <a:solidFill>
                  <a:srgbClr val="FF0000"/>
                </a:solidFill>
                <a:latin typeface="Calibri" panose="020F0502020204030204"/>
                <a:cs typeface="Calibri" panose="020F0502020204030204"/>
              </a:rPr>
              <a:t>Interval/Measurement Data.</a:t>
            </a:r>
            <a:endParaRPr lang="en-US" sz="2400" b="0" dirty="0">
              <a:solidFill>
                <a:srgbClr val="FF0000"/>
              </a:solidFill>
              <a:latin typeface="Calibri" panose="020F0502020204030204"/>
              <a:cs typeface="Calibri" panose="020F0502020204030204"/>
            </a:endParaRPr>
          </a:p>
        </p:txBody>
      </p:sp>
      <p:sp>
        <p:nvSpPr>
          <p:cNvPr id="6" name="TextBox 5"/>
          <p:cNvSpPr txBox="1"/>
          <p:nvPr/>
        </p:nvSpPr>
        <p:spPr>
          <a:xfrm>
            <a:off x="6766560" y="5385816"/>
            <a:ext cx="4187952" cy="1200329"/>
          </a:xfrm>
          <a:prstGeom prst="rect">
            <a:avLst/>
          </a:prstGeom>
          <a:noFill/>
        </p:spPr>
        <p:txBody>
          <a:bodyPr wrap="square" rtlCol="0">
            <a:spAutoFit/>
          </a:bodyPr>
          <a:lstStyle/>
          <a:p>
            <a:r>
              <a:rPr lang="en-GB">
                <a:solidFill>
                  <a:schemeClr val="accent2">
                    <a:lumMod val="75000"/>
                  </a:schemeClr>
                </a:solidFill>
              </a:rPr>
              <a:t>*For comparison of two nominal variables and for comparison of proportions you use two (or more) independent variables (see next slide)</a:t>
            </a:r>
            <a:endParaRPr lang="en-GB">
              <a:solidFill>
                <a:schemeClr val="accent2">
                  <a:lumMod val="75000"/>
                </a:schemeClr>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p:cNvSpPr>
            <a:spLocks noGrp="1"/>
          </p:cNvSpPr>
          <p:nvPr>
            <p:ph type="subTitle" idx="1"/>
          </p:nvPr>
        </p:nvSpPr>
        <p:spPr>
          <a:xfrm>
            <a:off x="965289" y="1147638"/>
            <a:ext cx="9753625" cy="230832"/>
          </a:xfrm>
        </p:spPr>
        <p:txBody>
          <a:bodyPr/>
          <a:lstStyle/>
          <a:p>
            <a:pPr>
              <a:spcAft>
                <a:spcPts val="0"/>
              </a:spcAft>
            </a:pPr>
            <a:r>
              <a:rPr lang="en-GB" dirty="0"/>
              <a:t>Our Research Question is </a:t>
            </a:r>
            <a:r>
              <a:rPr lang="en-GB" sz="1800" dirty="0">
                <a:solidFill>
                  <a:srgbClr val="FF0000"/>
                </a:solidFill>
              </a:rPr>
              <a:t>Choose ONE of the three templates below replacing the blue text with your variables – then add hypotheses as shown in next slide:</a:t>
            </a:r>
            <a:endParaRPr lang="en-GB" sz="1800" dirty="0">
              <a:solidFill>
                <a:srgbClr val="FF0000"/>
              </a:solidFill>
            </a:endParaRPr>
          </a:p>
        </p:txBody>
      </p:sp>
      <p:sp>
        <p:nvSpPr>
          <p:cNvPr id="3" name="Footer Placeholder 2"/>
          <p:cNvSpPr>
            <a:spLocks noGrp="1"/>
          </p:cNvSpPr>
          <p:nvPr>
            <p:ph type="ftr" sz="quarter" idx="11"/>
          </p:nvPr>
        </p:nvSpPr>
        <p:spPr>
          <a:xfrm>
            <a:off x="965289" y="791022"/>
            <a:ext cx="11440040" cy="230832"/>
          </a:xfrm>
        </p:spPr>
        <p:txBody>
          <a:bodyPr/>
          <a:lstStyle/>
          <a:p>
            <a:r>
              <a:rPr lang="en-GB" dirty="0"/>
              <a:t> Student Group No: B137 	      Names of Student Group Attendees: Mahipal, Poorni, Zaman, Ahmed &amp; Dheeraj</a:t>
            </a:r>
            <a:endParaRPr lang="en-GB" dirty="0"/>
          </a:p>
        </p:txBody>
      </p:sp>
      <p:sp>
        <p:nvSpPr>
          <p:cNvPr id="4" name="Slide Number Placeholder 3"/>
          <p:cNvSpPr>
            <a:spLocks noGrp="1"/>
          </p:cNvSpPr>
          <p:nvPr>
            <p:ph type="sldNum" sz="quarter" idx="12"/>
          </p:nvPr>
        </p:nvSpPr>
        <p:spPr>
          <a:xfrm>
            <a:off x="10616400" y="791022"/>
            <a:ext cx="622800" cy="230832"/>
          </a:xfrm>
        </p:spPr>
        <p:txBody>
          <a:bodyPr/>
          <a:lstStyle/>
          <a:p>
            <a:r>
              <a:rPr lang="en-US"/>
              <a:t>3</a:t>
            </a:r>
            <a:endParaRPr lang="en-GB"/>
          </a:p>
        </p:txBody>
      </p:sp>
      <p:sp>
        <p:nvSpPr>
          <p:cNvPr id="5" name="Title 4"/>
          <p:cNvSpPr>
            <a:spLocks noGrp="1"/>
          </p:cNvSpPr>
          <p:nvPr>
            <p:ph type="ctrTitle"/>
          </p:nvPr>
        </p:nvSpPr>
        <p:spPr>
          <a:xfrm>
            <a:off x="965289" y="1893914"/>
            <a:ext cx="10640594" cy="2678085"/>
          </a:xfrm>
        </p:spPr>
        <p:txBody>
          <a:bodyPr>
            <a:noAutofit/>
          </a:bodyPr>
          <a:lstStyle/>
          <a:p>
            <a:pPr>
              <a:lnSpc>
                <a:spcPct val="100000"/>
              </a:lnSpc>
            </a:pPr>
            <a:br>
              <a:rPr lang="en-IE" sz="2400" dirty="0">
                <a:effectLst/>
                <a:latin typeface="Calibri" panose="020F0502020204030204"/>
                <a:ea typeface="Calibri" panose="020F0502020204030204" pitchFamily="34" charset="0"/>
                <a:cs typeface="Times New Roman" panose="02020603050405020304"/>
              </a:rPr>
            </a:br>
            <a:br>
              <a:rPr lang="en-IE" sz="2400" dirty="0">
                <a:effectLst/>
                <a:latin typeface="Calibri" panose="020F0502020204030204"/>
                <a:ea typeface="Calibri" panose="020F0502020204030204" pitchFamily="34" charset="0"/>
                <a:cs typeface="Times New Roman" panose="02020603050405020304"/>
              </a:rPr>
            </a:br>
            <a:r>
              <a:rPr lang="en-IE" sz="2400" dirty="0">
                <a:effectLst/>
                <a:latin typeface="Calibri" panose="020F0502020204030204"/>
                <a:ea typeface="Calibri" panose="020F0502020204030204" pitchFamily="34" charset="0"/>
                <a:cs typeface="Times New Roman" panose="02020603050405020304"/>
              </a:rPr>
              <a:t>Template </a:t>
            </a:r>
            <a:r>
              <a:rPr lang="en-IE" sz="2400" baseline="30000" dirty="0">
                <a:effectLst/>
                <a:latin typeface="Calibri" panose="020F0502020204030204"/>
                <a:ea typeface="Calibri" panose="020F0502020204030204" pitchFamily="34" charset="0"/>
                <a:cs typeface="Times New Roman" panose="02020603050405020304"/>
              </a:rPr>
              <a:t>1</a:t>
            </a:r>
            <a:r>
              <a:rPr lang="en-IE" sz="2400" dirty="0">
                <a:effectLst/>
                <a:latin typeface="Calibri" panose="020F0502020204030204"/>
                <a:ea typeface="Calibri" panose="020F0502020204030204" pitchFamily="34" charset="0"/>
                <a:cs typeface="Times New Roman" panose="02020603050405020304"/>
              </a:rPr>
              <a:t>: </a:t>
            </a:r>
            <a:r>
              <a:rPr lang="en-IE" sz="2400" b="0" dirty="0">
                <a:effectLst/>
                <a:latin typeface="Calibri" panose="020F0502020204030204"/>
                <a:ea typeface="Calibri" panose="020F0502020204030204" pitchFamily="34" charset="0"/>
                <a:cs typeface="Times New Roman" panose="02020603050405020304"/>
              </a:rPr>
              <a:t>Interval/Ordinal vs Interval/Ordinal: “Is there a statistically significant  correlation between </a:t>
            </a:r>
            <a:r>
              <a:rPr lang="en-IE" sz="2400" b="0" dirty="0">
                <a:solidFill>
                  <a:srgbClr val="0070C0"/>
                </a:solidFill>
                <a:latin typeface="Calibri" panose="020F0502020204030204"/>
                <a:ea typeface="Calibri" panose="020F0502020204030204" pitchFamily="34" charset="0"/>
                <a:cs typeface="Times New Roman" panose="02020603050405020304"/>
              </a:rPr>
              <a:t>Point Scored /Game </a:t>
            </a:r>
            <a:r>
              <a:rPr lang="en-IE" sz="2400" b="0" dirty="0">
                <a:effectLst/>
                <a:latin typeface="Calibri" panose="020F0502020204030204"/>
                <a:ea typeface="Calibri" panose="020F0502020204030204" pitchFamily="34" charset="0"/>
                <a:cs typeface="Times New Roman" panose="02020603050405020304"/>
              </a:rPr>
              <a:t>and </a:t>
            </a:r>
            <a:r>
              <a:rPr lang="en-IE" sz="2400" b="0" dirty="0">
                <a:solidFill>
                  <a:srgbClr val="0070C0"/>
                </a:solidFill>
                <a:latin typeface="Calibri" panose="020F0502020204030204"/>
                <a:ea typeface="Calibri" panose="020F0502020204030204" pitchFamily="34" charset="0"/>
                <a:cs typeface="Times New Roman" panose="02020603050405020304"/>
              </a:rPr>
              <a:t>Minutes Player for NBA </a:t>
            </a:r>
            <a:r>
              <a:rPr lang="en-IE" sz="2400" b="0">
                <a:latin typeface="Calibri" panose="020F0502020204030204"/>
                <a:ea typeface="Calibri" panose="020F0502020204030204" pitchFamily="34" charset="0"/>
                <a:cs typeface="Times New Roman" panose="02020603050405020304"/>
              </a:rPr>
              <a:t>Players during the </a:t>
            </a:r>
            <a:r>
              <a:rPr lang="en-IE" sz="2400" b="0" dirty="0">
                <a:latin typeface="Calibri" panose="020F0502020204030204"/>
                <a:ea typeface="Calibri" panose="020F0502020204030204" pitchFamily="34" charset="0"/>
                <a:cs typeface="Times New Roman" panose="02020603050405020304"/>
              </a:rPr>
              <a:t>2017 season? ”</a:t>
            </a:r>
            <a:br>
              <a:rPr lang="en-IE" sz="2400" b="0" dirty="0">
                <a:latin typeface="Calibri" panose="020F0502020204030204"/>
                <a:ea typeface="Calibri" panose="020F0502020204030204" pitchFamily="34" charset="0"/>
                <a:cs typeface="Times New Roman" panose="02020603050405020304"/>
              </a:rPr>
            </a:br>
            <a:r>
              <a:rPr lang="en-IE" sz="2400" b="0" dirty="0">
                <a:latin typeface="Calibri" panose="020F0502020204030204"/>
                <a:ea typeface="Calibri" panose="020F0502020204030204" pitchFamily="34" charset="0"/>
                <a:cs typeface="Times New Roman" panose="02020603050405020304"/>
              </a:rPr>
              <a:t> </a:t>
            </a:r>
            <a:br>
              <a:rPr lang="en-IE" sz="2400" b="0" dirty="0">
                <a:latin typeface="Calibri" panose="020F0502020204030204"/>
                <a:ea typeface="Calibri" panose="020F0502020204030204" pitchFamily="34" charset="0"/>
                <a:cs typeface="Times New Roman" panose="02020603050405020304"/>
              </a:rPr>
            </a:br>
            <a:r>
              <a:rPr lang="en-IE" sz="2400" b="0" dirty="0">
                <a:latin typeface="Calibri" panose="020F0502020204030204"/>
                <a:ea typeface="Calibri" panose="020F0502020204030204" pitchFamily="34" charset="0"/>
                <a:cs typeface="Times New Roman" panose="02020603050405020304"/>
              </a:rPr>
              <a:t>In simpler terms: Do </a:t>
            </a:r>
            <a:r>
              <a:rPr lang="en-US" altLang="en-IE" sz="2400" b="0" dirty="0">
                <a:latin typeface="Calibri" panose="020F0502020204030204"/>
                <a:ea typeface="Calibri" panose="020F0502020204030204" pitchFamily="34" charset="0"/>
                <a:cs typeface="Times New Roman" panose="02020603050405020304"/>
              </a:rPr>
              <a:t>NBA </a:t>
            </a:r>
            <a:r>
              <a:rPr lang="en-IE" sz="2400" b="0" dirty="0">
                <a:latin typeface="Calibri" panose="020F0502020204030204"/>
                <a:ea typeface="Calibri" panose="020F0502020204030204" pitchFamily="34" charset="0"/>
                <a:cs typeface="Times New Roman" panose="02020603050405020304"/>
              </a:rPr>
              <a:t>players scoring more </a:t>
            </a:r>
            <a:r>
              <a:rPr lang="en-IE" sz="2400" b="0" dirty="0">
                <a:solidFill>
                  <a:schemeClr val="accent4"/>
                </a:solidFill>
                <a:latin typeface="Calibri" panose="020F0502020204030204"/>
                <a:ea typeface="Calibri" panose="020F0502020204030204" pitchFamily="34" charset="0"/>
                <a:cs typeface="Times New Roman" panose="02020603050405020304"/>
              </a:rPr>
              <a:t>points </a:t>
            </a:r>
            <a:r>
              <a:rPr lang="en-IE" sz="2400" b="0" dirty="0">
                <a:latin typeface="Calibri" panose="020F0502020204030204"/>
                <a:ea typeface="Calibri" panose="020F0502020204030204" pitchFamily="34" charset="0"/>
                <a:cs typeface="Times New Roman" panose="02020603050405020304"/>
              </a:rPr>
              <a:t>if they play more </a:t>
            </a:r>
            <a:r>
              <a:rPr lang="en-IE" sz="2400" b="0" dirty="0">
                <a:solidFill>
                  <a:schemeClr val="accent4"/>
                </a:solidFill>
                <a:latin typeface="Calibri" panose="020F0502020204030204"/>
                <a:ea typeface="Calibri" panose="020F0502020204030204" pitchFamily="34" charset="0"/>
                <a:cs typeface="Times New Roman" panose="02020603050405020304"/>
              </a:rPr>
              <a:t>time</a:t>
            </a:r>
            <a:r>
              <a:rPr lang="en-IE" sz="2400" b="0" dirty="0">
                <a:latin typeface="Calibri" panose="020F0502020204030204"/>
                <a:ea typeface="Calibri" panose="020F0502020204030204" pitchFamily="34" charset="0"/>
                <a:cs typeface="Times New Roman" panose="02020603050405020304"/>
              </a:rPr>
              <a:t> in a game</a:t>
            </a:r>
            <a:r>
              <a:rPr lang="en-US" altLang="en-IE" sz="2400" b="0" dirty="0">
                <a:latin typeface="Calibri" panose="020F0502020204030204"/>
                <a:ea typeface="Calibri" panose="020F0502020204030204" pitchFamily="34" charset="0"/>
                <a:cs typeface="Times New Roman" panose="02020603050405020304"/>
              </a:rPr>
              <a:t> throught the 2017 season</a:t>
            </a:r>
            <a:r>
              <a:rPr lang="en-IE" sz="2400" b="0" dirty="0">
                <a:latin typeface="Calibri" panose="020F0502020204030204"/>
                <a:ea typeface="Calibri" panose="020F0502020204030204" pitchFamily="34" charset="0"/>
                <a:cs typeface="Times New Roman" panose="02020603050405020304"/>
              </a:rPr>
              <a:t>?</a:t>
            </a:r>
            <a:br>
              <a:rPr lang="en-IE" sz="2400" dirty="0">
                <a:effectLst/>
                <a:latin typeface="Calibri" panose="020F0502020204030204" pitchFamily="34" charset="0"/>
                <a:ea typeface="Calibri" panose="020F0502020204030204" pitchFamily="34" charset="0"/>
                <a:cs typeface="Times New Roman" panose="02020603050405020304" pitchFamily="18" charset="0"/>
              </a:rPr>
            </a:br>
            <a:br>
              <a:rPr lang="en-IE" sz="2400" dirty="0">
                <a:effectLst/>
                <a:latin typeface="Calibri" panose="020F0502020204030204" pitchFamily="34" charset="0"/>
                <a:ea typeface="Calibri" panose="020F0502020204030204" pitchFamily="34" charset="0"/>
                <a:cs typeface="Times New Roman" panose="02020603050405020304" pitchFamily="18" charset="0"/>
              </a:rPr>
            </a:br>
            <a:br>
              <a:rPr lang="en-GB" sz="2400" dirty="0">
                <a:effectLst/>
                <a:latin typeface="Calibri" panose="020F0502020204030204" pitchFamily="34" charset="0"/>
                <a:ea typeface="Calibri" panose="020F0502020204030204" pitchFamily="34" charset="0"/>
                <a:cs typeface="Times New Roman" panose="02020603050405020304" pitchFamily="18" charset="0"/>
              </a:rPr>
            </a:br>
            <a:endParaRPr lang="en-GB" sz="2400" dirty="0">
              <a:solidFill>
                <a:srgbClr val="FF0000"/>
              </a:solidFill>
            </a:endParaRPr>
          </a:p>
        </p:txBody>
      </p:sp>
      <p:sp>
        <p:nvSpPr>
          <p:cNvPr id="7" name="TextBox 6"/>
          <p:cNvSpPr txBox="1"/>
          <p:nvPr/>
        </p:nvSpPr>
        <p:spPr>
          <a:xfrm>
            <a:off x="623945" y="5297755"/>
            <a:ext cx="11440040" cy="1477328"/>
          </a:xfrm>
          <a:prstGeom prst="rect">
            <a:avLst/>
          </a:prstGeom>
          <a:solidFill>
            <a:schemeClr val="bg1">
              <a:lumMod val="95000"/>
            </a:schemeClr>
          </a:solidFill>
        </p:spPr>
        <p:txBody>
          <a:bodyPr wrap="square" lIns="91440" tIns="45720" rIns="91440" bIns="45720" rtlCol="0" anchor="t">
            <a:spAutoFit/>
          </a:bodyPr>
          <a:lstStyle/>
          <a:p>
            <a:r>
              <a:rPr lang="en-GB" baseline="30000" dirty="0"/>
              <a:t>1</a:t>
            </a:r>
            <a:r>
              <a:rPr lang="en-GB" b="1" dirty="0">
                <a:latin typeface="Calibri" panose="020F0502020204030204"/>
                <a:cs typeface="Calibri" panose="020F0502020204030204"/>
              </a:rPr>
              <a:t>Correlation</a:t>
            </a:r>
            <a:r>
              <a:rPr lang="en-GB" dirty="0"/>
              <a:t> (</a:t>
            </a:r>
            <a:r>
              <a:rPr lang="en-IE" sz="1800" dirty="0">
                <a:effectLst/>
                <a:latin typeface="Calibri" panose="020F0502020204030204"/>
                <a:ea typeface="Calibri" panose="020F0502020204030204" pitchFamily="34" charset="0"/>
                <a:cs typeface="Times New Roman" panose="02020603050405020304"/>
              </a:rPr>
              <a:t>Analysis of how </a:t>
            </a:r>
            <a:r>
              <a:rPr lang="en-IE" sz="1800" dirty="0">
                <a:solidFill>
                  <a:srgbClr val="FF0000"/>
                </a:solidFill>
                <a:effectLst/>
                <a:latin typeface="Calibri" panose="020F0502020204030204"/>
                <a:ea typeface="Calibri" panose="020F0502020204030204" pitchFamily="34" charset="0"/>
                <a:cs typeface="Times New Roman" panose="02020603050405020304"/>
              </a:rPr>
              <a:t>ordinal</a:t>
            </a:r>
            <a:r>
              <a:rPr lang="en-IE" dirty="0">
                <a:solidFill>
                  <a:srgbClr val="FF0000"/>
                </a:solidFill>
                <a:latin typeface="Calibri" panose="020F0502020204030204"/>
                <a:ea typeface="Calibri" panose="020F0502020204030204" pitchFamily="34" charset="0"/>
                <a:cs typeface="Times New Roman" panose="02020603050405020304"/>
              </a:rPr>
              <a:t>/</a:t>
            </a:r>
            <a:r>
              <a:rPr lang="en-IE" sz="1800" dirty="0">
                <a:solidFill>
                  <a:srgbClr val="FF0000"/>
                </a:solidFill>
                <a:effectLst/>
                <a:latin typeface="Calibri" panose="020F0502020204030204"/>
                <a:ea typeface="Calibri" panose="020F0502020204030204" pitchFamily="34" charset="0"/>
                <a:cs typeface="Times New Roman" panose="02020603050405020304"/>
              </a:rPr>
              <a:t>interval </a:t>
            </a:r>
            <a:r>
              <a:rPr lang="en-IE" sz="1800" dirty="0">
                <a:solidFill>
                  <a:srgbClr val="00B050"/>
                </a:solidFill>
                <a:effectLst/>
                <a:latin typeface="Calibri" panose="020F0502020204030204"/>
                <a:ea typeface="Calibri" panose="020F0502020204030204" pitchFamily="34" charset="0"/>
                <a:cs typeface="Times New Roman" panose="02020603050405020304"/>
              </a:rPr>
              <a:t>dependent var</a:t>
            </a:r>
            <a:r>
              <a:rPr lang="en-IE" sz="1800" dirty="0">
                <a:effectLst/>
                <a:latin typeface="Calibri" panose="020F0502020204030204"/>
                <a:ea typeface="Calibri" panose="020F0502020204030204" pitchFamily="34" charset="0"/>
                <a:cs typeface="Times New Roman" panose="02020603050405020304"/>
              </a:rPr>
              <a:t> </a:t>
            </a:r>
            <a:r>
              <a:rPr lang="en-IE" dirty="0">
                <a:latin typeface="Calibri" panose="020F0502020204030204"/>
                <a:ea typeface="Calibri" panose="020F0502020204030204" pitchFamily="34" charset="0"/>
                <a:cs typeface="Times New Roman" panose="02020603050405020304"/>
              </a:rPr>
              <a:t>correlates </a:t>
            </a:r>
            <a:r>
              <a:rPr lang="en-IE" sz="1800" dirty="0">
                <a:effectLst/>
                <a:latin typeface="Calibri" panose="020F0502020204030204"/>
                <a:ea typeface="Calibri" panose="020F0502020204030204" pitchFamily="34" charset="0"/>
                <a:cs typeface="Times New Roman" panose="02020603050405020304"/>
              </a:rPr>
              <a:t>to an </a:t>
            </a:r>
            <a:r>
              <a:rPr lang="en-IE" sz="1800" dirty="0">
                <a:solidFill>
                  <a:srgbClr val="FF0000"/>
                </a:solidFill>
                <a:effectLst/>
                <a:latin typeface="Calibri" panose="020F0502020204030204"/>
                <a:ea typeface="Calibri" panose="020F0502020204030204" pitchFamily="34" charset="0"/>
                <a:cs typeface="Times New Roman" panose="02020603050405020304"/>
              </a:rPr>
              <a:t>ordinal/interval </a:t>
            </a:r>
            <a:r>
              <a:rPr lang="en-IE" sz="1800" dirty="0">
                <a:solidFill>
                  <a:srgbClr val="00B050"/>
                </a:solidFill>
                <a:effectLst/>
                <a:latin typeface="Calibri" panose="020F0502020204030204"/>
                <a:ea typeface="Calibri" panose="020F0502020204030204" pitchFamily="34" charset="0"/>
                <a:cs typeface="Times New Roman" panose="02020603050405020304"/>
              </a:rPr>
              <a:t>independent variable)</a:t>
            </a:r>
            <a:endParaRPr lang="en-GB" dirty="0">
              <a:latin typeface="Calibri" panose="020F0502020204030204"/>
              <a:cs typeface="Times New Roman" panose="02020603050405020304"/>
            </a:endParaRPr>
          </a:p>
          <a:p>
            <a:r>
              <a:rPr lang="en-IE" sz="1800" b="1" baseline="30000" dirty="0">
                <a:effectLst/>
                <a:latin typeface="Calibri" panose="020F0502020204030204" pitchFamily="34" charset="0"/>
                <a:ea typeface="Calibri" panose="020F0502020204030204" pitchFamily="34" charset="0"/>
                <a:cs typeface="Times New Roman" panose="02020603050405020304" pitchFamily="18" charset="0"/>
              </a:rPr>
              <a:t>2</a:t>
            </a:r>
            <a:r>
              <a:rPr lang="en-IE" sz="1800" b="1" dirty="0">
                <a:effectLst/>
                <a:latin typeface="Calibri" panose="020F0502020204030204" pitchFamily="34" charset="0"/>
                <a:ea typeface="Calibri" panose="020F0502020204030204" pitchFamily="34" charset="0"/>
                <a:cs typeface="Times New Roman" panose="02020603050405020304" pitchFamily="18" charset="0"/>
              </a:rPr>
              <a:t>Comparison of means</a:t>
            </a:r>
            <a:r>
              <a:rPr lang="en-IE" sz="1800" dirty="0">
                <a:effectLst/>
                <a:latin typeface="Calibri" panose="020F0502020204030204" pitchFamily="34" charset="0"/>
                <a:ea typeface="Calibri" panose="020F0502020204030204" pitchFamily="34" charset="0"/>
                <a:cs typeface="Times New Roman" panose="02020603050405020304" pitchFamily="18" charset="0"/>
              </a:rPr>
              <a:t> (or medians): Analysis of the difference between the mean (or median) value of a characteristic shared by members of two different populations.</a:t>
            </a:r>
            <a:endParaRPr lang="en-IE" sz="1800" dirty="0">
              <a:effectLst/>
              <a:latin typeface="Calibri" panose="020F0502020204030204" pitchFamily="34" charset="0"/>
              <a:ea typeface="Calibri" panose="020F0502020204030204" pitchFamily="34" charset="0"/>
              <a:cs typeface="Times New Roman" panose="02020603050405020304" pitchFamily="18" charset="0"/>
            </a:endParaRPr>
          </a:p>
          <a:p>
            <a:r>
              <a:rPr lang="en-IE" sz="1800" b="1" baseline="30000" dirty="0">
                <a:effectLst/>
                <a:latin typeface="Calibri" panose="020F0502020204030204" pitchFamily="34" charset="0"/>
                <a:ea typeface="Calibri" panose="020F0502020204030204" pitchFamily="34" charset="0"/>
                <a:cs typeface="Times New Roman" panose="02020603050405020304" pitchFamily="18" charset="0"/>
              </a:rPr>
              <a:t>3</a:t>
            </a:r>
            <a:r>
              <a:rPr lang="en-IE" sz="1800" b="1" dirty="0">
                <a:effectLst/>
                <a:latin typeface="Calibri" panose="020F0502020204030204" pitchFamily="34" charset="0"/>
                <a:ea typeface="Calibri" panose="020F0502020204030204" pitchFamily="34" charset="0"/>
                <a:cs typeface="Times New Roman" panose="02020603050405020304" pitchFamily="18" charset="0"/>
              </a:rPr>
              <a:t>Comparison of proportions:</a:t>
            </a:r>
            <a:r>
              <a:rPr lang="en-IE" sz="1800" dirty="0">
                <a:effectLst/>
                <a:latin typeface="Calibri" panose="020F0502020204030204" pitchFamily="34" charset="0"/>
                <a:ea typeface="Calibri" panose="020F0502020204030204" pitchFamily="34" charset="0"/>
                <a:cs typeface="Times New Roman" panose="02020603050405020304" pitchFamily="18" charset="0"/>
              </a:rPr>
              <a:t> Analysis of the difference in proportions of a characteristic shared by members of two different populations. </a:t>
            </a:r>
            <a:endParaRPr lang="en-GB"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p:cNvSpPr>
            <a:spLocks noGrp="1"/>
          </p:cNvSpPr>
          <p:nvPr>
            <p:ph type="subTitle" idx="1"/>
          </p:nvPr>
        </p:nvSpPr>
        <p:spPr>
          <a:xfrm>
            <a:off x="521219" y="284375"/>
            <a:ext cx="10406581" cy="1391600"/>
          </a:xfrm>
        </p:spPr>
        <p:txBody>
          <a:bodyPr vert="horz" lIns="0" tIns="0" rIns="0" bIns="0" rtlCol="0" anchor="t">
            <a:noAutofit/>
          </a:bodyPr>
          <a:lstStyle/>
          <a:p>
            <a:pPr>
              <a:lnSpc>
                <a:spcPct val="100000"/>
              </a:lnSpc>
            </a:pPr>
            <a:r>
              <a:rPr lang="en-GB" sz="2400" b="0" dirty="0">
                <a:latin typeface="Calibri" panose="020F0502020204030204"/>
                <a:cs typeface="Calibri" panose="020F0502020204030204"/>
              </a:rPr>
              <a:t>Add your </a:t>
            </a:r>
            <a:r>
              <a:rPr lang="en-GB" sz="2400" dirty="0">
                <a:latin typeface="Calibri" panose="020F0502020204030204"/>
                <a:cs typeface="Calibri" panose="020F0502020204030204"/>
              </a:rPr>
              <a:t>Hypotheses</a:t>
            </a:r>
            <a:r>
              <a:rPr lang="en-GB" sz="2400" b="0" dirty="0">
                <a:latin typeface="Calibri" panose="020F0502020204030204"/>
                <a:cs typeface="Calibri" panose="020F0502020204030204"/>
              </a:rPr>
              <a:t> to the previous RQ Slide  (both the Null and Alternative Hypotheses).  Here are definitions and examples. </a:t>
            </a:r>
            <a:r>
              <a:rPr lang="en-GB" sz="2400" dirty="0">
                <a:latin typeface="Calibri" panose="020F0502020204030204"/>
                <a:cs typeface="Calibri" panose="020F0502020204030204"/>
              </a:rPr>
              <a:t>Your hypothesis wording comes directly from your RQ</a:t>
            </a:r>
            <a:r>
              <a:rPr lang="en-GB" sz="2400" b="0" dirty="0">
                <a:latin typeface="Calibri" panose="020F0502020204030204"/>
                <a:cs typeface="Calibri" panose="020F0502020204030204"/>
              </a:rPr>
              <a:t>. This is the formal way of reporting the results of your inferential test statistics,  in which we report the </a:t>
            </a:r>
            <a:r>
              <a:rPr lang="en-GB" sz="2400" b="0" i="1" dirty="0">
                <a:latin typeface="Calibri" panose="020F0502020204030204"/>
                <a:cs typeface="Calibri" panose="020F0502020204030204"/>
              </a:rPr>
              <a:t>effect</a:t>
            </a:r>
            <a:r>
              <a:rPr lang="en-GB" sz="2400" b="0" dirty="0">
                <a:latin typeface="Calibri" panose="020F0502020204030204"/>
                <a:cs typeface="Calibri" panose="020F0502020204030204"/>
              </a:rPr>
              <a:t> the independent variable has on the dependent variable – </a:t>
            </a:r>
            <a:endParaRPr lang="en-GB" sz="2400" b="0" dirty="0">
              <a:latin typeface="Calibri" panose="020F0502020204030204"/>
              <a:cs typeface="Calibri" panose="020F0502020204030204"/>
            </a:endParaRPr>
          </a:p>
          <a:p>
            <a:pPr>
              <a:lnSpc>
                <a:spcPct val="100000"/>
              </a:lnSpc>
            </a:pPr>
            <a:endParaRPr lang="en-GB" sz="2400" b="0" dirty="0">
              <a:latin typeface="Calibri" panose="020F0502020204030204"/>
              <a:cs typeface="Calibri" panose="020F0502020204030204"/>
            </a:endParaRPr>
          </a:p>
          <a:p>
            <a:pPr marL="457200" indent="-457200">
              <a:lnSpc>
                <a:spcPct val="100000"/>
              </a:lnSpc>
              <a:buAutoNum type="arabicPeriod"/>
            </a:pPr>
            <a:r>
              <a:rPr lang="en-GB" sz="2000" b="0" dirty="0">
                <a:latin typeface="Arial" panose="020B0604020202020204"/>
                <a:cs typeface="Arial" panose="020B0604020202020204"/>
              </a:rPr>
              <a:t>Null hypothesis (H</a:t>
            </a:r>
            <a:r>
              <a:rPr lang="en-GB" sz="2000" b="0" baseline="-25000" dirty="0">
                <a:latin typeface="Arial" panose="020B0604020202020204"/>
                <a:cs typeface="Arial" panose="020B0604020202020204"/>
              </a:rPr>
              <a:t>0</a:t>
            </a:r>
            <a:r>
              <a:rPr lang="en-GB" sz="2000" b="0" dirty="0">
                <a:latin typeface="Arial" panose="020B0604020202020204"/>
                <a:cs typeface="Arial" panose="020B0604020202020204"/>
              </a:rPr>
              <a:t>): </a:t>
            </a:r>
            <a:endParaRPr lang="en-GB" sz="2000" b="0" dirty="0">
              <a:latin typeface="Arial" panose="020B0604020202020204"/>
              <a:cs typeface="Arial" panose="020B0604020202020204"/>
            </a:endParaRPr>
          </a:p>
          <a:p>
            <a:pPr>
              <a:lnSpc>
                <a:spcPct val="100000"/>
              </a:lnSpc>
            </a:pPr>
            <a:r>
              <a:rPr lang="en-GB" sz="2000" b="0" dirty="0">
                <a:solidFill>
                  <a:srgbClr val="FF0000"/>
                </a:solidFill>
                <a:latin typeface="Arial" panose="020B0604020202020204"/>
                <a:cs typeface="Arial" panose="020B0604020202020204"/>
              </a:rPr>
              <a:t>	Null hypothesis (H</a:t>
            </a:r>
            <a:r>
              <a:rPr lang="en-GB" sz="2000" b="0" baseline="-25000" dirty="0">
                <a:solidFill>
                  <a:srgbClr val="FF0000"/>
                </a:solidFill>
                <a:latin typeface="Arial" panose="020B0604020202020204"/>
                <a:cs typeface="Arial" panose="020B0604020202020204"/>
              </a:rPr>
              <a:t>0</a:t>
            </a:r>
            <a:r>
              <a:rPr lang="en-GB" sz="2000" b="0" dirty="0">
                <a:solidFill>
                  <a:srgbClr val="FF0000"/>
                </a:solidFill>
                <a:latin typeface="Arial" panose="020B0604020202020204"/>
                <a:cs typeface="Arial" panose="020B0604020202020204"/>
              </a:rPr>
              <a:t>): There is </a:t>
            </a:r>
            <a:r>
              <a:rPr lang="en-GB" sz="2000" dirty="0">
                <a:solidFill>
                  <a:srgbClr val="FF0000"/>
                </a:solidFill>
                <a:latin typeface="Arial" panose="020B0604020202020204"/>
                <a:cs typeface="Arial" panose="020B0604020202020204"/>
              </a:rPr>
              <a:t>no</a:t>
            </a:r>
            <a:r>
              <a:rPr lang="en-GB" sz="2000" b="0" dirty="0">
                <a:solidFill>
                  <a:srgbClr val="FF0000"/>
                </a:solidFill>
                <a:latin typeface="Arial" panose="020B0604020202020204"/>
                <a:cs typeface="Arial" panose="020B0604020202020204"/>
              </a:rPr>
              <a:t> correlation between </a:t>
            </a:r>
            <a:r>
              <a:rPr lang="en-GB" sz="2000" b="0" dirty="0">
                <a:solidFill>
                  <a:schemeClr val="accent4"/>
                </a:solidFill>
                <a:latin typeface="Arial" panose="020B0604020202020204"/>
                <a:cs typeface="Arial" panose="020B0604020202020204"/>
              </a:rPr>
              <a:t>Point Scored/Game</a:t>
            </a:r>
            <a:r>
              <a:rPr lang="en-GB" sz="2000" b="0" dirty="0">
                <a:solidFill>
                  <a:srgbClr val="FF0000"/>
                </a:solidFill>
                <a:latin typeface="Arial" panose="020B0604020202020204"/>
                <a:cs typeface="Arial" panose="020B0604020202020204"/>
              </a:rPr>
              <a:t> and </a:t>
            </a:r>
            <a:r>
              <a:rPr lang="en-GB" sz="2000" b="0" dirty="0">
                <a:solidFill>
                  <a:schemeClr val="accent4"/>
                </a:solidFill>
                <a:latin typeface="Arial" panose="020B0604020202020204"/>
                <a:cs typeface="Arial" panose="020B0604020202020204"/>
              </a:rPr>
              <a:t>Minutes Played</a:t>
            </a:r>
            <a:r>
              <a:rPr lang="en-GB" sz="2000" b="0" dirty="0">
                <a:solidFill>
                  <a:srgbClr val="FF0000"/>
                </a:solidFill>
                <a:latin typeface="Arial" panose="020B0604020202020204"/>
                <a:cs typeface="Arial" panose="020B0604020202020204"/>
              </a:rPr>
              <a:t>.</a:t>
            </a:r>
            <a:endParaRPr lang="en-GB" sz="2000" b="0" dirty="0">
              <a:solidFill>
                <a:srgbClr val="FF0000"/>
              </a:solidFill>
              <a:latin typeface="Arial" panose="020B0604020202020204"/>
              <a:cs typeface="Arial" panose="020B0604020202020204"/>
            </a:endParaRPr>
          </a:p>
          <a:p>
            <a:pPr>
              <a:lnSpc>
                <a:spcPct val="100000"/>
              </a:lnSpc>
            </a:pPr>
            <a:r>
              <a:rPr lang="en-GB" sz="2000" b="0" dirty="0">
                <a:latin typeface="Arial" panose="020B0604020202020204"/>
                <a:cs typeface="Arial" panose="020B0604020202020204"/>
              </a:rPr>
              <a:t>2. Alternative hypothesis (H</a:t>
            </a:r>
            <a:r>
              <a:rPr lang="en-GB" sz="2000" b="0" baseline="-25000" dirty="0">
                <a:latin typeface="Arial" panose="020B0604020202020204"/>
                <a:cs typeface="Arial" panose="020B0604020202020204"/>
              </a:rPr>
              <a:t>1</a:t>
            </a:r>
            <a:r>
              <a:rPr lang="en-GB" sz="2000" b="0" dirty="0">
                <a:latin typeface="Arial" panose="020B0604020202020204"/>
                <a:cs typeface="Arial" panose="020B0604020202020204"/>
              </a:rPr>
              <a:t>):  </a:t>
            </a:r>
            <a:endParaRPr lang="en-GB" sz="2000" b="0" dirty="0">
              <a:latin typeface="Arial" panose="020B0604020202020204"/>
              <a:cs typeface="Arial" panose="020B0604020202020204"/>
            </a:endParaRPr>
          </a:p>
          <a:p>
            <a:pPr>
              <a:lnSpc>
                <a:spcPct val="100000"/>
              </a:lnSpc>
            </a:pPr>
            <a:r>
              <a:rPr lang="en-GB" sz="2000" b="0" dirty="0">
                <a:solidFill>
                  <a:srgbClr val="FF0000"/>
                </a:solidFill>
                <a:latin typeface="Arial" panose="020B0604020202020204"/>
                <a:cs typeface="Arial" panose="020B0604020202020204"/>
              </a:rPr>
              <a:t>	Alt hypothesis (H</a:t>
            </a:r>
            <a:r>
              <a:rPr lang="en-GB" sz="2000" b="0" baseline="-25000" dirty="0">
                <a:solidFill>
                  <a:srgbClr val="FF0000"/>
                </a:solidFill>
                <a:latin typeface="Arial" panose="020B0604020202020204"/>
                <a:cs typeface="Arial" panose="020B0604020202020204"/>
              </a:rPr>
              <a:t>1</a:t>
            </a:r>
            <a:r>
              <a:rPr lang="en-GB" sz="2000" b="0" dirty="0">
                <a:solidFill>
                  <a:srgbClr val="FF0000"/>
                </a:solidFill>
                <a:latin typeface="Arial" panose="020B0604020202020204"/>
                <a:cs typeface="Arial" panose="020B0604020202020204"/>
              </a:rPr>
              <a:t>): There is </a:t>
            </a:r>
            <a:r>
              <a:rPr lang="en-GB" sz="2000" dirty="0">
                <a:solidFill>
                  <a:srgbClr val="FF0000"/>
                </a:solidFill>
                <a:latin typeface="Arial" panose="020B0604020202020204"/>
                <a:cs typeface="Arial" panose="020B0604020202020204"/>
              </a:rPr>
              <a:t>a</a:t>
            </a:r>
            <a:r>
              <a:rPr lang="en-GB" sz="2000" b="0" dirty="0">
                <a:solidFill>
                  <a:srgbClr val="FF0000"/>
                </a:solidFill>
                <a:latin typeface="Arial" panose="020B0604020202020204"/>
                <a:cs typeface="Arial" panose="020B0604020202020204"/>
              </a:rPr>
              <a:t> correlation </a:t>
            </a:r>
            <a:r>
              <a:rPr lang="en-GB" sz="2000" b="0">
                <a:solidFill>
                  <a:srgbClr val="FF0000"/>
                </a:solidFill>
                <a:cs typeface="Arial" panose="020B0604020202020204"/>
              </a:rPr>
              <a:t>between </a:t>
            </a:r>
            <a:r>
              <a:rPr lang="en-GB" sz="2000" b="0">
                <a:solidFill>
                  <a:schemeClr val="accent4"/>
                </a:solidFill>
                <a:cs typeface="Arial" panose="020B0604020202020204"/>
              </a:rPr>
              <a:t>Point Scored/Game</a:t>
            </a:r>
            <a:r>
              <a:rPr lang="en-GB" sz="2000" b="0">
                <a:solidFill>
                  <a:srgbClr val="FF0000"/>
                </a:solidFill>
                <a:cs typeface="Arial" panose="020B0604020202020204"/>
              </a:rPr>
              <a:t> and </a:t>
            </a:r>
            <a:r>
              <a:rPr lang="en-GB" sz="2000" b="0">
                <a:solidFill>
                  <a:schemeClr val="accent4"/>
                </a:solidFill>
                <a:cs typeface="Arial" panose="020B0604020202020204"/>
              </a:rPr>
              <a:t>Minutes Played</a:t>
            </a:r>
            <a:r>
              <a:rPr lang="en-GB" sz="2000" b="0">
                <a:solidFill>
                  <a:srgbClr val="FF0000"/>
                </a:solidFill>
                <a:cs typeface="Arial" panose="020B0604020202020204"/>
              </a:rPr>
              <a:t>.</a:t>
            </a:r>
            <a:endParaRPr lang="en-GB" sz="2000" b="0" dirty="0">
              <a:solidFill>
                <a:srgbClr val="FF0000"/>
              </a:solidFill>
              <a:cs typeface="Arial" panose="020B0604020202020204"/>
            </a:endParaRPr>
          </a:p>
          <a:p>
            <a:pPr>
              <a:lnSpc>
                <a:spcPct val="100000"/>
              </a:lnSpc>
            </a:pPr>
            <a:endParaRPr lang="en-GB" sz="2000" b="0" dirty="0">
              <a:solidFill>
                <a:srgbClr val="FF0000"/>
              </a:solidFill>
              <a:latin typeface="Arial" panose="020B0604020202020204"/>
              <a:cs typeface="Arial" panose="020B0604020202020204"/>
            </a:endParaRPr>
          </a:p>
        </p:txBody>
      </p:sp>
      <p:sp>
        <p:nvSpPr>
          <p:cNvPr id="4" name="Slide Number Placeholder 3"/>
          <p:cNvSpPr>
            <a:spLocks noGrp="1"/>
          </p:cNvSpPr>
          <p:nvPr>
            <p:ph type="sldNum" sz="quarter" idx="12"/>
          </p:nvPr>
        </p:nvSpPr>
        <p:spPr>
          <a:xfrm>
            <a:off x="11269543" y="284375"/>
            <a:ext cx="558281" cy="221244"/>
          </a:xfrm>
        </p:spPr>
        <p:txBody>
          <a:bodyPr/>
          <a:lstStyle/>
          <a:p>
            <a:r>
              <a:rPr lang="en-US"/>
              <a:t>4</a:t>
            </a:r>
            <a:endParaRPr lang="en-GB"/>
          </a:p>
        </p:txBody>
      </p:sp>
      <p:sp>
        <p:nvSpPr>
          <p:cNvPr id="6" name="TextBox 5"/>
          <p:cNvSpPr txBox="1"/>
          <p:nvPr/>
        </p:nvSpPr>
        <p:spPr>
          <a:xfrm>
            <a:off x="3356146" y="5298491"/>
            <a:ext cx="7811780" cy="1477328"/>
          </a:xfrm>
          <a:prstGeom prst="rect">
            <a:avLst/>
          </a:prstGeom>
          <a:noFill/>
        </p:spPr>
        <p:txBody>
          <a:bodyPr wrap="square" lIns="91440" tIns="45720" rIns="91440" bIns="45720" anchor="t">
            <a:spAutoFit/>
          </a:bodyPr>
          <a:lstStyle/>
          <a:p>
            <a:r>
              <a:rPr lang="en-GB"/>
              <a:t>L</a:t>
            </a:r>
            <a:r>
              <a:rPr lang="en-GB" sz="1800" b="0"/>
              <a:t>eave the hypotheses as </a:t>
            </a:r>
            <a:r>
              <a:rPr lang="en-GB"/>
              <a:t>two </a:t>
            </a:r>
            <a:r>
              <a:rPr lang="en-GB" sz="1800" b="0"/>
              <a:t>statements for now – after your </a:t>
            </a:r>
            <a:r>
              <a:rPr lang="en-GB"/>
              <a:t>statistical </a:t>
            </a:r>
            <a:r>
              <a:rPr lang="en-GB" sz="1800" b="0"/>
              <a:t>analysis </a:t>
            </a:r>
            <a:r>
              <a:rPr lang="en-GB"/>
              <a:t>test, </a:t>
            </a:r>
            <a:r>
              <a:rPr lang="en-GB" sz="1800" b="0"/>
              <a:t>you </a:t>
            </a:r>
            <a:r>
              <a:rPr lang="en-GB"/>
              <a:t>will </a:t>
            </a:r>
            <a:r>
              <a:rPr lang="en-GB" sz="1800" b="0"/>
              <a:t>choose one or the other.</a:t>
            </a:r>
            <a:r>
              <a:rPr lang="en-GB"/>
              <a:t> (</a:t>
            </a:r>
            <a:r>
              <a:rPr lang="en-GB" i="1"/>
              <a:t>You will report: "We fail to reject the null hypothesis" with no significant result, or if you do have significance [p-value = &lt; 0.05] you can state "We reject the null hypothesis".   More guidance on hypothesis testing is given in the lectures</a:t>
            </a:r>
            <a:r>
              <a:rPr lang="en-GB"/>
              <a:t>.)</a:t>
            </a:r>
            <a:endParaRPr lang="en-GB">
              <a:cs typeface="Arial" panose="020B0604020202020204"/>
            </a:endParaRPr>
          </a:p>
        </p:txBody>
      </p:sp>
    </p:spTree>
  </p:cSld>
  <p:clrMapOvr>
    <a:masterClrMapping/>
  </p:clrMapOvr>
</p:sld>
</file>

<file path=ppt/theme/theme1.xml><?xml version="1.0" encoding="utf-8"?>
<a:theme xmlns:a="http://schemas.openxmlformats.org/drawing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Props1.xml><?xml version="1.0" encoding="utf-8"?>
<ds:datastoreItem xmlns:ds="http://schemas.openxmlformats.org/officeDocument/2006/customXml" ds:itemID="{421B8C57-903D-4D0E-8336-7B512F760CD1}">
  <ds:schemaRefs/>
</ds:datastoreItem>
</file>

<file path=customXml/itemProps2.xml><?xml version="1.0" encoding="utf-8"?>
<ds:datastoreItem xmlns:ds="http://schemas.openxmlformats.org/officeDocument/2006/customXml" ds:itemID="{91C521DD-2673-4EE6-BB9B-DC5C3320FFBB}">
  <ds:schemaRefs/>
</ds:datastoreItem>
</file>

<file path=customXml/itemProps3.xml><?xml version="1.0" encoding="utf-8"?>
<ds:datastoreItem xmlns:ds="http://schemas.openxmlformats.org/officeDocument/2006/customXml" ds:itemID="{EDD1FC41-23C7-41B0-B5F9-BF4CD38AD2ED}">
  <ds:schemaRefs/>
</ds:datastoreItem>
</file>

<file path=docProps/app.xml><?xml version="1.0" encoding="utf-8"?>
<Properties xmlns="http://schemas.openxmlformats.org/officeDocument/2006/extended-properties" xmlns:vt="http://schemas.openxmlformats.org/officeDocument/2006/docPropsVTypes">
  <TotalTime>0</TotalTime>
  <Words>4885</Words>
  <Application>WPS Presentation</Application>
  <PresentationFormat>Widescreen</PresentationFormat>
  <Paragraphs>65</Paragraphs>
  <Slides>6</Slides>
  <Notes>4</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6</vt:i4>
      </vt:variant>
    </vt:vector>
  </HeadingPairs>
  <TitlesOfParts>
    <vt:vector size="17" baseType="lpstr">
      <vt:lpstr>Arial</vt:lpstr>
      <vt:lpstr>SimSun</vt:lpstr>
      <vt:lpstr>Wingdings</vt:lpstr>
      <vt:lpstr>Arial</vt:lpstr>
      <vt:lpstr>Calibri</vt:lpstr>
      <vt:lpstr>Calibri</vt:lpstr>
      <vt:lpstr>Times New Roman</vt:lpstr>
      <vt:lpstr>Times New Roman</vt:lpstr>
      <vt:lpstr>Microsoft YaHei</vt:lpstr>
      <vt:lpstr>Arial Unicode MS</vt:lpstr>
      <vt:lpstr>Herts Theme</vt:lpstr>
      <vt:lpstr>PowerPoint 演示文稿</vt:lpstr>
      <vt:lpstr>Research Question –  Tutorial Presentation for Feedback Date:  24/11/2025 </vt:lpstr>
      <vt:lpstr>Our Dataset has 486 rows &amp; 30 columns. </vt:lpstr>
      <vt:lpstr>This dataset is interesting to us because:  It provides well quantitative information about NBA players’ performance, with which we can do statistical analysis.  Our  Independent variable is: MP (Minutes Played in Game)                    This  Independent variable datatype is: Interval/Measurement Data Our Dependent variable is: PS/G (Points Scored per Game)                    This Dependent variable datatype is  (select one): Interval/Measurement Data.</vt:lpstr>
      <vt:lpstr>  Template 1: Interval/Ordinal vs Interval/Ordinal: “Is there a statistically significant  correlation between Point Scored /Game and Minutes Player for NBA Players during the 2017 season? ”   In simpler terms: Do players scoring more points if they play more time in a game?   </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vishal</cp:lastModifiedBy>
  <cp:revision>127</cp:revision>
  <dcterms:created xsi:type="dcterms:W3CDTF">2019-10-01T08:37:00Z</dcterms:created>
  <dcterms:modified xsi:type="dcterms:W3CDTF">2025-12-12T14:01:20Z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0x01010026DBA85F447B164191BB36C258697B67</vt:lpwstr>
  </property>
  <property fmtid="{D5CDD505-2E9C-101B-9397-08002B2CF9AE}" pid="3" name="ICV">
    <vt:lpwstr>3CDA116888A248AB98287E29ED823DC8_12</vt:lpwstr>
  </property>
  <property fmtid="{D5CDD505-2E9C-101B-9397-08002B2CF9AE}" pid="4" name="KSOProductBuildVer">
    <vt:lpwstr>1033-12.2.0.23155</vt:lpwstr>
  </property>
</Properties>
</file>